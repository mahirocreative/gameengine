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2" r:id="rId3"/>
    <p:sldId id="282" r:id="rId4"/>
    <p:sldId id="257" r:id="rId5"/>
    <p:sldId id="268" r:id="rId6"/>
    <p:sldId id="269" r:id="rId7"/>
    <p:sldId id="270" r:id="rId8"/>
    <p:sldId id="271" r:id="rId9"/>
    <p:sldId id="273" r:id="rId10"/>
    <p:sldId id="274" r:id="rId11"/>
    <p:sldId id="275" r:id="rId12"/>
    <p:sldId id="276" r:id="rId13"/>
    <p:sldId id="262" r:id="rId14"/>
    <p:sldId id="263" r:id="rId15"/>
    <p:sldId id="291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2" r:id="rId25"/>
    <p:sldId id="293" r:id="rId26"/>
    <p:sldId id="258" r:id="rId27"/>
    <p:sldId id="259" r:id="rId28"/>
    <p:sldId id="260" r:id="rId29"/>
    <p:sldId id="261" r:id="rId30"/>
    <p:sldId id="294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hiro" initials="M" lastIdx="4" clrIdx="0">
    <p:extLst>
      <p:ext uri="{19B8F6BF-5375-455C-9EA6-DF929625EA0E}">
        <p15:presenceInfo xmlns:p15="http://schemas.microsoft.com/office/powerpoint/2012/main" userId="Mahi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0" y="7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7C1CA-D5D3-4FB8-8499-BBEEE790A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0F4B64-E70E-48BA-B029-6027B5073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DE8F95-B3BD-42FF-8E1A-F984F690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80ED3-0D49-4E8D-AD25-390C32D9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F4B189-BF66-4BD1-B519-A01A4276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86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ED20A-AF9D-4767-BE61-6C81A8BF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52E446-367E-430F-A5A2-861101F7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FA6E67-A949-4C9A-AD3A-9D4356EA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79008-0EFE-463C-816B-187CE13D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0733B2-C997-464A-AC85-8DD3B61C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71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9F4ED-ED19-4136-8B29-27AE1A0D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53BC24-4DA9-47D3-88E2-CE17FD89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6F19E-33C2-4F8A-8492-16FBB00D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C57FA9-D746-4AC7-8240-F74044AB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7031C-A038-43C1-8525-8CC932C9F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21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0554F-68D4-43DB-A24D-B44D80D17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40037-4EB3-47E0-8DA6-4CCD5F9B2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6B3E1B-C91A-40CD-A46A-DF6FC5863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75C98F-C814-406B-BF6A-D365B9C0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626D4-A6E4-4253-BF2C-B1A051C4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C5636-03AF-451D-9C7D-5B129593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78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30359-FE23-4AD2-970F-E67E4712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935A38-74FE-413A-B549-4C411C61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D75AF5-0146-4CE7-AA04-8357521C6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C1C3321-2B89-4930-ACA7-B7B978611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82313A-761B-4812-8FC1-E0BB334E02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E8A646-D43B-4FDB-98F5-5A99F6A2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283184-C56F-4942-A315-8DF233FD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294970-7D7B-4679-B8EE-5FE4EF7F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91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9F00CB-ADA3-4AA7-AD5E-98274DC3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9E24FC-F8CF-4AE2-992B-4B1A4E3D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8C6E3B-D6E7-454F-BB13-EB54107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D6628D-61F9-4EB0-AB0D-34308793A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271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4316B5-9424-4C56-89A0-C30BF107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DD6D299-3EA4-4C3C-8471-CE7D37AD1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A8669C-1800-40F8-9F5D-D347F7CC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51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5F07A-F16D-4644-8778-D4F287CF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13F0E-81C2-43B8-8947-F6D026C4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012C1-B2AC-413B-AED3-478A23A91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359ABD-552D-42F9-BA51-3C35215A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837D58-6B3F-493A-AFA6-B2DB3C917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5126A-F180-4FB5-B700-93BEA98E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24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5D4FB3-DFFF-49F7-ACA5-1DC37D00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2B7F25-A68B-417E-8DC1-DE231D2C8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28C97E-0B7D-4CA9-957C-B97CA814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5C9EF9-A2B9-4AC7-BA87-873DFAF8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FBDE5D-A0F8-4911-8F84-947B0090B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ADED2D-338B-4ADC-AAFC-34EFA264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126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8C08F-0520-4451-A5DF-ABA35D3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40F3E6-294A-4C8D-AD13-067EEFC3F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145A9-B192-40BE-8879-4DE8B735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3EA29-EB8A-4958-9A98-57C26029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94B557-1E60-4E04-8728-0BD9F27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669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FC7FF6-CC80-4819-BF99-73641160F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E09B85-8BA2-4E65-AF9E-4EB42511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AFBD33-3BCF-45B3-8BD7-1327764D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CCFEB-22EA-402A-AA4A-37D71D0D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42432C-DF2F-4C1A-A953-50D6E924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01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4E8BC-071B-43D5-A6E5-CA228A71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2AA049-8FCE-4DAD-8B42-F01FCBFE8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EEC91-684F-4228-9B3A-802C298A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E08CE-871E-42A1-882B-8194E9FA60B7}" type="datetimeFigureOut">
              <a:rPr kumimoji="1" lang="ja-JP" altLang="en-US" smtClean="0"/>
              <a:t>2026/4/10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6E8A7-3007-4E2A-8E72-0880D89C7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DF9E5-5D02-4855-8D59-5B771D708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F5B61-2121-4CC5-B344-228E616EED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136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64E6AC-D48D-4C9B-8055-9A855D31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570" y="167951"/>
            <a:ext cx="9112860" cy="4784252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5748" y="3993991"/>
            <a:ext cx="6366617" cy="1038328"/>
          </a:xfrm>
        </p:spPr>
        <p:txBody>
          <a:bodyPr>
            <a:normAutofit/>
          </a:bodyPr>
          <a:lstStyle/>
          <a:p>
            <a:r>
              <a:rPr kumimoji="1" lang="en-US" altLang="ja-JP" sz="6600" dirty="0"/>
              <a:t>Unity</a:t>
            </a:r>
            <a:r>
              <a:rPr kumimoji="1" lang="ja-JP" altLang="en-US" sz="6600" dirty="0"/>
              <a:t>の仕組み</a:t>
            </a:r>
            <a:endParaRPr kumimoji="1" lang="ja-JP" altLang="en-US" sz="4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228572-3EBB-4FBE-A8C2-B241D57AE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47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576" y="1104035"/>
            <a:ext cx="10010049" cy="4509533"/>
          </a:xfrm>
        </p:spPr>
        <p:txBody>
          <a:bodyPr>
            <a:normAutofit/>
          </a:bodyPr>
          <a:lstStyle/>
          <a:p>
            <a:r>
              <a:rPr kumimoji="1" lang="ja-JP" altLang="en-US" sz="3200" b="1" u="sng" dirty="0"/>
              <a:t>アジェンダ</a:t>
            </a:r>
            <a:endParaRPr kumimoji="1" lang="en-US" altLang="ja-JP" sz="3200" b="1" u="sng" dirty="0"/>
          </a:p>
          <a:p>
            <a:pPr marL="0" indent="0">
              <a:buNone/>
            </a:pPr>
            <a:r>
              <a:rPr lang="en-US" altLang="ja-JP" sz="4800" dirty="0"/>
              <a:t>1.Unity</a:t>
            </a:r>
            <a:r>
              <a:rPr lang="ja-JP" altLang="en-US" sz="4800" dirty="0"/>
              <a:t>の世界観</a:t>
            </a:r>
            <a:endParaRPr lang="ja-JP" altLang="en-US" sz="3200" dirty="0"/>
          </a:p>
          <a:p>
            <a:pPr marL="0" indent="0">
              <a:buNone/>
            </a:pPr>
            <a:r>
              <a:rPr lang="en-US" altLang="ja-JP" sz="4800" dirty="0"/>
              <a:t>2.Unity</a:t>
            </a:r>
            <a:r>
              <a:rPr lang="ja-JP" altLang="en-US" sz="4800" dirty="0"/>
              <a:t>の画面構成</a:t>
            </a:r>
            <a:endParaRPr lang="ja-JP" altLang="en-US" sz="3200" dirty="0"/>
          </a:p>
          <a:p>
            <a:pPr marL="0" indent="0">
              <a:buNone/>
            </a:pPr>
            <a:r>
              <a:rPr lang="en-US" altLang="ja-JP" sz="4800" dirty="0"/>
              <a:t>3.Unity</a:t>
            </a:r>
            <a:r>
              <a:rPr lang="ja-JP" altLang="en-US" sz="4800" dirty="0"/>
              <a:t>と</a:t>
            </a:r>
            <a:r>
              <a:rPr lang="en-US" altLang="ja-JP" sz="4800" dirty="0"/>
              <a:t>C#</a:t>
            </a:r>
          </a:p>
          <a:p>
            <a:pPr marL="0" indent="0">
              <a:buNone/>
            </a:pPr>
            <a:r>
              <a:rPr lang="en-US" altLang="ja-JP" sz="4800" dirty="0"/>
              <a:t>4.UnityOneWeek!</a:t>
            </a:r>
            <a:endParaRPr lang="ja-JP" altLang="en-US" sz="3200" dirty="0"/>
          </a:p>
          <a:p>
            <a:pPr marL="0" indent="0">
              <a:buNone/>
            </a:pPr>
            <a:endParaRPr lang="ja-JP" altLang="en-US" sz="3200" dirty="0"/>
          </a:p>
          <a:p>
            <a:pPr marL="0" indent="0">
              <a:buNone/>
            </a:pPr>
            <a:endParaRPr kumimoji="1" lang="ja-JP" altLang="en-US" sz="32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276061" y="287867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/>
              <a:t>アジェンダ（</a:t>
            </a:r>
            <a:r>
              <a:rPr lang="en-US" altLang="ja-JP" dirty="0"/>
              <a:t>agenda</a:t>
            </a:r>
            <a:r>
              <a:rPr lang="ja-JP" altLang="en-US" dirty="0"/>
              <a:t>：目次）</a:t>
            </a:r>
          </a:p>
        </p:txBody>
      </p:sp>
    </p:spTree>
    <p:extLst>
      <p:ext uri="{BB962C8B-B14F-4D97-AF65-F5344CB8AC3E}">
        <p14:creationId xmlns:p14="http://schemas.microsoft.com/office/powerpoint/2010/main" val="2387201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64E6AC-D48D-4C9B-8055-9A855D31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84" y="355542"/>
            <a:ext cx="7543158" cy="4510855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7564" y="3993991"/>
            <a:ext cx="6836871" cy="1038328"/>
          </a:xfrm>
        </p:spPr>
        <p:txBody>
          <a:bodyPr>
            <a:normAutofit/>
          </a:bodyPr>
          <a:lstStyle/>
          <a:p>
            <a:r>
              <a:rPr kumimoji="1" lang="en-US" altLang="ja-JP" sz="6600" dirty="0"/>
              <a:t>1.Unity</a:t>
            </a:r>
            <a:r>
              <a:rPr lang="ja-JP" altLang="en-US" sz="6600" dirty="0"/>
              <a:t>の世界観</a:t>
            </a:r>
            <a:endParaRPr kumimoji="1" lang="ja-JP" altLang="en-US" sz="4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F3B336F-9BED-4BBE-88A4-FFE156B1B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71433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図 37">
            <a:extLst>
              <a:ext uri="{FF2B5EF4-FFF2-40B4-BE49-F238E27FC236}">
                <a16:creationId xmlns:a16="http://schemas.microsoft.com/office/drawing/2014/main" id="{5493C3F9-3069-4FB8-81D4-AE2975106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40" y="2851151"/>
            <a:ext cx="3699933" cy="369993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/>
          <a:lstStyle/>
          <a:p>
            <a:r>
              <a:rPr kumimoji="1" lang="en-US" altLang="ja-JP" b="1" dirty="0"/>
              <a:t>Unity</a:t>
            </a:r>
            <a:r>
              <a:rPr kumimoji="1" lang="ja-JP" altLang="en-US" b="1" dirty="0"/>
              <a:t>は</a:t>
            </a:r>
            <a:r>
              <a:rPr lang="ja-JP" altLang="en-US" b="1" dirty="0"/>
              <a:t>すべて</a:t>
            </a:r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r>
              <a:rPr kumimoji="1" lang="ja-JP" altLang="en-US" b="1" dirty="0"/>
              <a:t>空間</a:t>
            </a:r>
            <a:r>
              <a:rPr lang="ja-JP" altLang="en-US" b="1" dirty="0"/>
              <a:t>　ー１－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94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・透明な板（</a:t>
            </a:r>
            <a:r>
              <a:rPr lang="en-US" altLang="ja-JP" sz="3200" dirty="0"/>
              <a:t>2D</a:t>
            </a:r>
            <a:r>
              <a:rPr lang="ja-JP" altLang="en-US" sz="3200" dirty="0"/>
              <a:t>空間）を通して３</a:t>
            </a:r>
            <a:r>
              <a:rPr lang="en-US" altLang="ja-JP" sz="3200" dirty="0"/>
              <a:t>D</a:t>
            </a:r>
            <a:r>
              <a:rPr lang="ja-JP" altLang="en-US" sz="3200" dirty="0"/>
              <a:t>世界を見ている</a:t>
            </a:r>
            <a:endParaRPr kumimoji="1" lang="ja-JP" altLang="en-US" sz="3200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51F73FC-681E-4CC4-B9F1-5633D2912B8A}"/>
              </a:ext>
            </a:extLst>
          </p:cNvPr>
          <p:cNvSpPr/>
          <p:nvPr/>
        </p:nvSpPr>
        <p:spPr>
          <a:xfrm>
            <a:off x="5968470" y="3924964"/>
            <a:ext cx="2108730" cy="17047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/>
              <a:t>２</a:t>
            </a:r>
            <a:r>
              <a:rPr kumimoji="1" lang="en-US" altLang="ja-JP" sz="3200" b="1" dirty="0"/>
              <a:t>D</a:t>
            </a:r>
            <a:r>
              <a:rPr kumimoji="1" lang="ja-JP" altLang="en-US" sz="3200" b="1" dirty="0"/>
              <a:t>空間</a:t>
            </a:r>
            <a:endParaRPr kumimoji="1" lang="en-US" altLang="ja-JP" sz="3200" b="1" dirty="0"/>
          </a:p>
          <a:p>
            <a:pPr algn="ctr"/>
            <a:r>
              <a:rPr lang="ja-JP" altLang="en-US" sz="3200" b="1" dirty="0"/>
              <a:t>（</a:t>
            </a:r>
            <a:r>
              <a:rPr lang="en-US" altLang="ja-JP" sz="3200" b="1"/>
              <a:t>u</a:t>
            </a:r>
            <a:r>
              <a:rPr lang="ja-JP" altLang="en-US" sz="3200" b="1"/>
              <a:t>）</a:t>
            </a:r>
            <a:endParaRPr kumimoji="1" lang="ja-JP" altLang="en-US" b="1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94CE5CB-7403-4A97-9236-D5AC9283D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711" y="3635773"/>
            <a:ext cx="2405063" cy="2405063"/>
          </a:xfrm>
          <a:prstGeom prst="rect">
            <a:avLst/>
          </a:prstGeom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930C328-EF77-4EAC-B7CA-60A96AEFD467}"/>
              </a:ext>
            </a:extLst>
          </p:cNvPr>
          <p:cNvCxnSpPr>
            <a:cxnSpLocks/>
          </p:cNvCxnSpPr>
          <p:nvPr/>
        </p:nvCxnSpPr>
        <p:spPr>
          <a:xfrm>
            <a:off x="8077200" y="3924964"/>
            <a:ext cx="1399449" cy="682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E5861F3-672A-46D5-A1D0-34209574E1F8}"/>
              </a:ext>
            </a:extLst>
          </p:cNvPr>
          <p:cNvCxnSpPr>
            <a:cxnSpLocks/>
          </p:cNvCxnSpPr>
          <p:nvPr/>
        </p:nvCxnSpPr>
        <p:spPr>
          <a:xfrm flipV="1">
            <a:off x="8077200" y="5080661"/>
            <a:ext cx="1399449" cy="549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5D67BA8-96F7-4388-83F4-0795AE2C70F8}"/>
              </a:ext>
            </a:extLst>
          </p:cNvPr>
          <p:cNvCxnSpPr>
            <a:cxnSpLocks/>
          </p:cNvCxnSpPr>
          <p:nvPr/>
        </p:nvCxnSpPr>
        <p:spPr>
          <a:xfrm>
            <a:off x="838200" y="2726267"/>
            <a:ext cx="5130270" cy="1198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02C4FEE-79F9-4DE3-9F5A-4411D88DD1FC}"/>
              </a:ext>
            </a:extLst>
          </p:cNvPr>
          <p:cNvCxnSpPr>
            <a:cxnSpLocks/>
          </p:cNvCxnSpPr>
          <p:nvPr/>
        </p:nvCxnSpPr>
        <p:spPr>
          <a:xfrm flipV="1">
            <a:off x="838200" y="5629672"/>
            <a:ext cx="5130270" cy="921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EEEE1AA-59A5-4D23-91F0-EF21DAFC9699}"/>
              </a:ext>
            </a:extLst>
          </p:cNvPr>
          <p:cNvSpPr txBox="1"/>
          <p:nvPr/>
        </p:nvSpPr>
        <p:spPr>
          <a:xfrm>
            <a:off x="5968470" y="2555478"/>
            <a:ext cx="29083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u="sng" dirty="0"/>
              <a:t>テキストメッセージ</a:t>
            </a:r>
            <a:endParaRPr kumimoji="1" lang="en-US" altLang="ja-JP" sz="2000" b="1" u="sng" dirty="0"/>
          </a:p>
          <a:p>
            <a:r>
              <a:rPr lang="ja-JP" altLang="en-US" sz="2000" b="1" u="sng" dirty="0"/>
              <a:t>　　　　や</a:t>
            </a:r>
            <a:endParaRPr lang="en-US" altLang="ja-JP" sz="2000" b="1" u="sng" dirty="0"/>
          </a:p>
          <a:p>
            <a:r>
              <a:rPr kumimoji="1" lang="ja-JP" altLang="en-US" sz="2000" b="1" u="sng" dirty="0"/>
              <a:t>　ボタンなどはここ！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D2702928-1F3C-48AF-AB6B-F77F554BCCBD}"/>
              </a:ext>
            </a:extLst>
          </p:cNvPr>
          <p:cNvCxnSpPr>
            <a:cxnSpLocks/>
          </p:cNvCxnSpPr>
          <p:nvPr/>
        </p:nvCxnSpPr>
        <p:spPr>
          <a:xfrm flipH="1">
            <a:off x="7084399" y="3546213"/>
            <a:ext cx="399829" cy="35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>
            <a:extLst>
              <a:ext uri="{FF2B5EF4-FFF2-40B4-BE49-F238E27FC236}">
                <a16:creationId xmlns:a16="http://schemas.microsoft.com/office/drawing/2014/main" id="{D4E1681D-6B92-42A6-ADBF-56FFB66EC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1600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9202E8B-420B-40D1-8086-DBBEDBC7B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0" y="1377739"/>
            <a:ext cx="7905750" cy="547321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51"/>
            <a:ext cx="10515600" cy="1325563"/>
          </a:xfrm>
        </p:spPr>
        <p:txBody>
          <a:bodyPr/>
          <a:lstStyle/>
          <a:p>
            <a:r>
              <a:rPr kumimoji="1" lang="en-US" altLang="ja-JP" b="1" dirty="0"/>
              <a:t>Unity</a:t>
            </a:r>
            <a:r>
              <a:rPr kumimoji="1" lang="ja-JP" altLang="en-US" b="1" dirty="0"/>
              <a:t>は</a:t>
            </a:r>
            <a:r>
              <a:rPr lang="ja-JP" altLang="en-US" b="1" dirty="0"/>
              <a:t>すべて</a:t>
            </a:r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r>
              <a:rPr kumimoji="1" lang="ja-JP" altLang="en-US" b="1" dirty="0"/>
              <a:t>空間</a:t>
            </a:r>
            <a:r>
              <a:rPr lang="ja-JP" altLang="en-US" b="1" dirty="0"/>
              <a:t>　ー</a:t>
            </a:r>
            <a:r>
              <a:rPr lang="en-US" altLang="ja-JP" b="1" dirty="0"/>
              <a:t>2</a:t>
            </a:r>
            <a:r>
              <a:rPr lang="ja-JP" altLang="en-US" b="1" dirty="0"/>
              <a:t>－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44676"/>
            <a:ext cx="3448050" cy="594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・具体的にはこう</a:t>
            </a:r>
            <a:endParaRPr kumimoji="1" lang="ja-JP" altLang="en-US" sz="3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F4D598C-C8A0-4F96-8758-98439E12A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11" y="2563345"/>
            <a:ext cx="3544539" cy="416526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C979FC4-9BB2-4BA2-AD5A-4FA742FE7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8143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ja-JP" b="1" dirty="0"/>
              <a:t>Unity</a:t>
            </a:r>
            <a:r>
              <a:rPr kumimoji="1" lang="ja-JP" altLang="en-US" b="1" dirty="0"/>
              <a:t>は</a:t>
            </a:r>
            <a:r>
              <a:rPr lang="ja-JP" altLang="en-US" b="1" dirty="0"/>
              <a:t>すべて</a:t>
            </a:r>
            <a:r>
              <a:rPr kumimoji="1" lang="ja-JP" altLang="en-US" b="1" dirty="0"/>
              <a:t>３</a:t>
            </a:r>
            <a:r>
              <a:rPr kumimoji="1" lang="en-US" altLang="ja-JP" b="1" dirty="0"/>
              <a:t>D</a:t>
            </a:r>
            <a:r>
              <a:rPr kumimoji="1" lang="ja-JP" altLang="en-US" b="1" dirty="0"/>
              <a:t>空間</a:t>
            </a:r>
            <a:r>
              <a:rPr lang="ja-JP" altLang="en-US" b="1" dirty="0"/>
              <a:t>　ー３－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6619"/>
            <a:ext cx="10515600" cy="10039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sz="3200" dirty="0"/>
              <a:t>・２</a:t>
            </a:r>
            <a:r>
              <a:rPr lang="en-US" altLang="ja-JP" sz="3200" dirty="0"/>
              <a:t>D</a:t>
            </a:r>
            <a:r>
              <a:rPr lang="ja-JP" altLang="en-US" sz="3200" dirty="0"/>
              <a:t>オブジェクト（文字やボタン以外）</a:t>
            </a:r>
            <a:endParaRPr lang="en-US" altLang="ja-JP" sz="3200" dirty="0"/>
          </a:p>
          <a:p>
            <a:pPr marL="0" indent="0">
              <a:buNone/>
            </a:pPr>
            <a:r>
              <a:rPr kumimoji="1" lang="ja-JP" altLang="en-US" sz="3200" dirty="0"/>
              <a:t>　はとても薄い３</a:t>
            </a:r>
            <a:r>
              <a:rPr kumimoji="1" lang="en-US" altLang="ja-JP" sz="3200" dirty="0"/>
              <a:t>D</a:t>
            </a:r>
            <a:r>
              <a:rPr kumimoji="1" lang="ja-JP" altLang="en-US" sz="3200" dirty="0"/>
              <a:t>を平面に写すことで表現する。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57F72A-5FEB-4599-ABC3-35AA5CB60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2457451"/>
            <a:ext cx="11544300" cy="427330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B82DE2E-596E-493C-8ECF-F30FB30D5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7685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B61276DD-0481-491A-929E-603579CDE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398" y="2262377"/>
            <a:ext cx="4001601" cy="22509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744"/>
            <a:ext cx="10515600" cy="1325563"/>
          </a:xfrm>
        </p:spPr>
        <p:txBody>
          <a:bodyPr/>
          <a:lstStyle/>
          <a:p>
            <a:r>
              <a:rPr lang="en-US" altLang="ja-JP" sz="4000" b="1" dirty="0"/>
              <a:t>Scene</a:t>
            </a:r>
            <a:r>
              <a:rPr lang="ja-JP" altLang="en-US" sz="4000" b="1" dirty="0"/>
              <a:t>を繋いでゲームを作る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FC072E7-63FA-4533-9290-2E65494BBFB9}"/>
              </a:ext>
            </a:extLst>
          </p:cNvPr>
          <p:cNvSpPr txBox="1"/>
          <p:nvPr/>
        </p:nvSpPr>
        <p:spPr>
          <a:xfrm>
            <a:off x="133350" y="1161559"/>
            <a:ext cx="10001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・</a:t>
            </a:r>
            <a:r>
              <a:rPr lang="en-US" altLang="ja-JP" sz="2800" dirty="0"/>
              <a:t>Unity</a:t>
            </a:r>
            <a:r>
              <a:rPr lang="ja-JP" altLang="en-US" sz="2800" dirty="0"/>
              <a:t>は</a:t>
            </a:r>
            <a:r>
              <a:rPr lang="en-US" altLang="ja-JP" sz="2800" b="1" u="sng" dirty="0"/>
              <a:t>Scene</a:t>
            </a:r>
            <a:r>
              <a:rPr lang="ja-JP" altLang="en-US" sz="2800" b="1" u="sng" dirty="0"/>
              <a:t>（場面）</a:t>
            </a:r>
            <a:r>
              <a:rPr lang="ja-JP" altLang="en-US" sz="2800" dirty="0"/>
              <a:t>と呼ばれる物を繋いで、</a:t>
            </a:r>
            <a:endParaRPr lang="en-US" altLang="ja-JP" sz="2800" dirty="0"/>
          </a:p>
          <a:p>
            <a:r>
              <a:rPr kumimoji="1" lang="ja-JP" altLang="en-US" sz="2800" dirty="0"/>
              <a:t>　一つのゲームを制作します。</a:t>
            </a:r>
            <a:endParaRPr kumimoji="1" lang="ja-JP" altLang="en-US" sz="16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CDACF45-50BE-4D44-853B-5F2534E4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262377"/>
            <a:ext cx="3998309" cy="22509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2655668-AEA1-4886-B3D3-F94DC2982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199" y="2262377"/>
            <a:ext cx="4001601" cy="22509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7303E5E-D527-4011-B5E9-DB8A0A5D4EC8}"/>
              </a:ext>
            </a:extLst>
          </p:cNvPr>
          <p:cNvSpPr txBox="1"/>
          <p:nvPr/>
        </p:nvSpPr>
        <p:spPr>
          <a:xfrm>
            <a:off x="5542001" y="2077711"/>
            <a:ext cx="13003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会話</a:t>
            </a:r>
            <a:r>
              <a:rPr kumimoji="1" lang="en-US" altLang="ja-JP" dirty="0"/>
              <a:t>Scene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69A38E3-B063-47F6-8E8D-516009933F2F}"/>
              </a:ext>
            </a:extLst>
          </p:cNvPr>
          <p:cNvSpPr txBox="1"/>
          <p:nvPr/>
        </p:nvSpPr>
        <p:spPr>
          <a:xfrm>
            <a:off x="1268016" y="2077711"/>
            <a:ext cx="176202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タイトル</a:t>
            </a:r>
            <a:r>
              <a:rPr lang="en-US" altLang="ja-JP" dirty="0"/>
              <a:t>Scene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82222CF-D3A0-497F-8386-74536B3AC621}"/>
              </a:ext>
            </a:extLst>
          </p:cNvPr>
          <p:cNvSpPr txBox="1"/>
          <p:nvPr/>
        </p:nvSpPr>
        <p:spPr>
          <a:xfrm>
            <a:off x="9543602" y="2077711"/>
            <a:ext cx="13003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探索</a:t>
            </a:r>
            <a:r>
              <a:rPr kumimoji="1" lang="en-US" altLang="ja-JP" dirty="0"/>
              <a:t>Scene</a:t>
            </a:r>
            <a:endParaRPr kumimoji="1" lang="ja-JP" altLang="en-US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F0C14E76-8920-48B8-B665-F57766CA7E16}"/>
              </a:ext>
            </a:extLst>
          </p:cNvPr>
          <p:cNvCxnSpPr>
            <a:cxnSpLocks/>
          </p:cNvCxnSpPr>
          <p:nvPr/>
        </p:nvCxnSpPr>
        <p:spPr>
          <a:xfrm>
            <a:off x="1999153" y="4513277"/>
            <a:ext cx="4096845" cy="842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EDFA830-4052-463A-9FDE-3C447186FCCB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096000" y="4513277"/>
            <a:ext cx="0" cy="842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A628EB3-24D2-48FD-8CA3-0018C9FC0D8D}"/>
              </a:ext>
            </a:extLst>
          </p:cNvPr>
          <p:cNvSpPr txBox="1"/>
          <p:nvPr/>
        </p:nvSpPr>
        <p:spPr>
          <a:xfrm>
            <a:off x="2090255" y="5355838"/>
            <a:ext cx="8362427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3200" b="1" u="sng" dirty="0">
                <a:solidFill>
                  <a:srgbClr val="FF0000"/>
                </a:solidFill>
              </a:rPr>
              <a:t>３つの</a:t>
            </a:r>
            <a:r>
              <a:rPr kumimoji="1" lang="en-US" altLang="ja-JP" sz="3200" b="1" u="sng" dirty="0">
                <a:solidFill>
                  <a:srgbClr val="FF0000"/>
                </a:solidFill>
              </a:rPr>
              <a:t>Scene</a:t>
            </a:r>
            <a:r>
              <a:rPr kumimoji="1" lang="ja-JP" altLang="en-US" sz="3200" b="1" u="sng" dirty="0">
                <a:solidFill>
                  <a:srgbClr val="FF0000"/>
                </a:solidFill>
              </a:rPr>
              <a:t>を合わせて一つのゲームを作る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305EF4F-8E14-4C42-B1D3-8A2353200BD0}"/>
              </a:ext>
            </a:extLst>
          </p:cNvPr>
          <p:cNvCxnSpPr>
            <a:cxnSpLocks/>
          </p:cNvCxnSpPr>
          <p:nvPr/>
        </p:nvCxnSpPr>
        <p:spPr>
          <a:xfrm flipH="1">
            <a:off x="6095999" y="4513277"/>
            <a:ext cx="4095202" cy="842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図 20">
            <a:extLst>
              <a:ext uri="{FF2B5EF4-FFF2-40B4-BE49-F238E27FC236}">
                <a16:creationId xmlns:a16="http://schemas.microsoft.com/office/drawing/2014/main" id="{DCAC7A9E-6014-4121-961E-A12F66B632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8867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26463F9-708F-432F-B29B-ED6779137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3607"/>
            <a:ext cx="7456701" cy="4194393"/>
          </a:xfrm>
          <a:prstGeom prst="rect">
            <a:avLst/>
          </a:prstGeom>
        </p:spPr>
      </p:pic>
      <p:sp>
        <p:nvSpPr>
          <p:cNvPr id="16" name="楕円 15">
            <a:extLst>
              <a:ext uri="{FF2B5EF4-FFF2-40B4-BE49-F238E27FC236}">
                <a16:creationId xmlns:a16="http://schemas.microsoft.com/office/drawing/2014/main" id="{F389583A-8B1A-415D-B30E-F8E3EFCCE6D8}"/>
              </a:ext>
            </a:extLst>
          </p:cNvPr>
          <p:cNvSpPr/>
          <p:nvPr/>
        </p:nvSpPr>
        <p:spPr>
          <a:xfrm>
            <a:off x="0" y="2332139"/>
            <a:ext cx="7524925" cy="4806869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ja-JP" sz="4000" dirty="0"/>
              <a:t>Scene</a:t>
            </a:r>
            <a:r>
              <a:rPr lang="ja-JP" altLang="en-US" sz="4000" dirty="0"/>
              <a:t>はオブジェクトを組み合わせて作る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A342C398-FA21-4C60-B8A9-F8F6864A59AD}"/>
              </a:ext>
            </a:extLst>
          </p:cNvPr>
          <p:cNvSpPr/>
          <p:nvPr/>
        </p:nvSpPr>
        <p:spPr>
          <a:xfrm>
            <a:off x="1522045" y="5717097"/>
            <a:ext cx="4412610" cy="105701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1656DB0-C267-4E28-B38A-A481324AC6A4}"/>
              </a:ext>
            </a:extLst>
          </p:cNvPr>
          <p:cNvCxnSpPr>
            <a:cxnSpLocks/>
          </p:cNvCxnSpPr>
          <p:nvPr/>
        </p:nvCxnSpPr>
        <p:spPr>
          <a:xfrm>
            <a:off x="5934655" y="6245603"/>
            <a:ext cx="240400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24B2FB7-EAB0-4306-9C46-F7D6A3D237EB}"/>
              </a:ext>
            </a:extLst>
          </p:cNvPr>
          <p:cNvSpPr txBox="1"/>
          <p:nvPr/>
        </p:nvSpPr>
        <p:spPr>
          <a:xfrm>
            <a:off x="8229600" y="598399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 dirty="0">
                <a:solidFill>
                  <a:srgbClr val="FF0000"/>
                </a:solidFill>
              </a:rPr>
              <a:t>テキストボックス</a:t>
            </a:r>
            <a:endParaRPr kumimoji="1" lang="en-US" altLang="ja-JP" sz="2800" b="1" u="sng" dirty="0">
              <a:solidFill>
                <a:srgbClr val="FF0000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9BDA6DD5-EBA2-4141-9A4C-915C685B818C}"/>
              </a:ext>
            </a:extLst>
          </p:cNvPr>
          <p:cNvSpPr/>
          <p:nvPr/>
        </p:nvSpPr>
        <p:spPr>
          <a:xfrm>
            <a:off x="3976382" y="2390862"/>
            <a:ext cx="2600587" cy="4622334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F54D1F4-B35E-4DDC-AA87-D992A3354735}"/>
              </a:ext>
            </a:extLst>
          </p:cNvPr>
          <p:cNvCxnSpPr>
            <a:cxnSpLocks/>
          </p:cNvCxnSpPr>
          <p:nvPr/>
        </p:nvCxnSpPr>
        <p:spPr>
          <a:xfrm>
            <a:off x="6501468" y="3724712"/>
            <a:ext cx="1728132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CDA88F6-710B-455A-BBFD-CBF01832BBE2}"/>
              </a:ext>
            </a:extLst>
          </p:cNvPr>
          <p:cNvSpPr txBox="1"/>
          <p:nvPr/>
        </p:nvSpPr>
        <p:spPr>
          <a:xfrm>
            <a:off x="8229600" y="349387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solidFill>
                  <a:srgbClr val="00B050"/>
                </a:solidFill>
              </a:rPr>
              <a:t>キャラクター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472B7C6-F8A8-41D5-865D-98B3E645B3DC}"/>
              </a:ext>
            </a:extLst>
          </p:cNvPr>
          <p:cNvCxnSpPr>
            <a:stCxn id="16" idx="6"/>
          </p:cNvCxnSpPr>
          <p:nvPr/>
        </p:nvCxnSpPr>
        <p:spPr>
          <a:xfrm>
            <a:off x="7524925" y="4735574"/>
            <a:ext cx="704675" cy="420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098D014-4CBE-477B-8F21-B47ACD4B3A3C}"/>
              </a:ext>
            </a:extLst>
          </p:cNvPr>
          <p:cNvSpPr txBox="1"/>
          <p:nvPr/>
        </p:nvSpPr>
        <p:spPr>
          <a:xfrm>
            <a:off x="8297824" y="447396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 dirty="0">
                <a:solidFill>
                  <a:srgbClr val="00B0F0"/>
                </a:solidFill>
              </a:rPr>
              <a:t>背景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085595D-0445-473D-80F0-F2DBE89C96B9}"/>
              </a:ext>
            </a:extLst>
          </p:cNvPr>
          <p:cNvSpPr txBox="1"/>
          <p:nvPr/>
        </p:nvSpPr>
        <p:spPr>
          <a:xfrm>
            <a:off x="7690990" y="1843847"/>
            <a:ext cx="4134465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800" b="1" u="sng" dirty="0"/>
              <a:t>これら全てオブジェクト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A447931-27A5-4DC2-BC9D-9D0011C21012}"/>
              </a:ext>
            </a:extLst>
          </p:cNvPr>
          <p:cNvSpPr txBox="1"/>
          <p:nvPr/>
        </p:nvSpPr>
        <p:spPr>
          <a:xfrm>
            <a:off x="7686239" y="2408407"/>
            <a:ext cx="3667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オブジェクト</a:t>
            </a:r>
            <a:r>
              <a:rPr lang="en-US" altLang="ja-JP" dirty="0"/>
              <a:t>(Object:</a:t>
            </a:r>
            <a:r>
              <a:rPr lang="ja-JP" altLang="en-US" b="1" i="0" dirty="0">
                <a:solidFill>
                  <a:srgbClr val="534A42"/>
                </a:solidFill>
                <a:effectLst/>
                <a:latin typeface="Avenir"/>
              </a:rPr>
              <a:t>物、物体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BDF1ADC-ADF3-4BB9-A02E-9E856235F69D}"/>
              </a:ext>
            </a:extLst>
          </p:cNvPr>
          <p:cNvSpPr txBox="1"/>
          <p:nvPr/>
        </p:nvSpPr>
        <p:spPr>
          <a:xfrm>
            <a:off x="366545" y="1452691"/>
            <a:ext cx="659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・一つの</a:t>
            </a:r>
            <a:r>
              <a:rPr kumimoji="1" lang="en-US" altLang="ja-JP" sz="2000" dirty="0"/>
              <a:t>Scene</a:t>
            </a:r>
            <a:r>
              <a:rPr kumimoji="1" lang="ja-JP" altLang="en-US" sz="2000" dirty="0"/>
              <a:t>は多数の</a:t>
            </a:r>
            <a:r>
              <a:rPr kumimoji="1" lang="ja-JP" altLang="en-US" sz="2000" b="1" u="sng" dirty="0"/>
              <a:t>オブジェクト</a:t>
            </a:r>
            <a:r>
              <a:rPr kumimoji="1" lang="ja-JP" altLang="en-US" sz="2000" dirty="0"/>
              <a:t>により構成される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65F7942D-15A9-4EDB-B141-EA0936553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304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sz="4000" dirty="0"/>
              <a:t>オブジェクトは複数のスクリプトで成り立つ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1F5EB96-2846-4C49-91BF-C122A800B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" y="1040665"/>
            <a:ext cx="5479137" cy="267107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900532E-8819-47EA-A49E-024ADF94B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87158"/>
            <a:ext cx="5486400" cy="3070842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6AAE0BD-DDB2-4BC6-8617-486C72BD30DC}"/>
              </a:ext>
            </a:extLst>
          </p:cNvPr>
          <p:cNvCxnSpPr>
            <a:cxnSpLocks/>
          </p:cNvCxnSpPr>
          <p:nvPr/>
        </p:nvCxnSpPr>
        <p:spPr>
          <a:xfrm>
            <a:off x="5486400" y="2376204"/>
            <a:ext cx="16685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78100F8-79E9-484A-9732-89EFFEFAEFF3}"/>
              </a:ext>
            </a:extLst>
          </p:cNvPr>
          <p:cNvCxnSpPr>
            <a:cxnSpLocks/>
          </p:cNvCxnSpPr>
          <p:nvPr/>
        </p:nvCxnSpPr>
        <p:spPr>
          <a:xfrm>
            <a:off x="5486400" y="5322579"/>
            <a:ext cx="166854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9E2C099-40B9-4DD2-9B1B-075A4B2BEB37}"/>
              </a:ext>
            </a:extLst>
          </p:cNvPr>
          <p:cNvSpPr txBox="1"/>
          <p:nvPr/>
        </p:nvSpPr>
        <p:spPr>
          <a:xfrm>
            <a:off x="7154944" y="2150985"/>
            <a:ext cx="3041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/>
              <a:t>１</a:t>
            </a:r>
            <a:r>
              <a:rPr kumimoji="1" lang="en-US" altLang="ja-JP" sz="2400" b="1" u="sng" dirty="0"/>
              <a:t>.</a:t>
            </a:r>
            <a:r>
              <a:rPr kumimoji="1" lang="ja-JP" altLang="en-US" sz="2400" b="1" u="sng" dirty="0"/>
              <a:t>攻撃のスクリプト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84601C8-1B5F-4E1B-A4D4-8A1D6F799771}"/>
              </a:ext>
            </a:extLst>
          </p:cNvPr>
          <p:cNvSpPr txBox="1"/>
          <p:nvPr/>
        </p:nvSpPr>
        <p:spPr>
          <a:xfrm>
            <a:off x="7154943" y="5091746"/>
            <a:ext cx="2909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u="sng" dirty="0"/>
              <a:t>2.</a:t>
            </a:r>
            <a:r>
              <a:rPr lang="ja-JP" altLang="en-US" sz="2400" b="1" u="sng" dirty="0"/>
              <a:t>歩き</a:t>
            </a:r>
            <a:r>
              <a:rPr kumimoji="1" lang="ja-JP" altLang="en-US" sz="2400" b="1" u="sng" dirty="0"/>
              <a:t>のスクリプト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63CB5C1-1B01-403C-9B8B-39B685F68923}"/>
              </a:ext>
            </a:extLst>
          </p:cNvPr>
          <p:cNvSpPr txBox="1"/>
          <p:nvPr/>
        </p:nvSpPr>
        <p:spPr>
          <a:xfrm>
            <a:off x="6096000" y="3544969"/>
            <a:ext cx="551946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solidFill>
                  <a:srgbClr val="FF0000"/>
                </a:solidFill>
              </a:rPr>
              <a:t>ここにプログラミングが必要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3C03443-9A7A-4803-8A9A-491259C77007}"/>
              </a:ext>
            </a:extLst>
          </p:cNvPr>
          <p:cNvSpPr txBox="1"/>
          <p:nvPr/>
        </p:nvSpPr>
        <p:spPr>
          <a:xfrm>
            <a:off x="6183985" y="1114213"/>
            <a:ext cx="41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例：キャラクター（オブジェクト）</a:t>
            </a:r>
            <a:endParaRPr kumimoji="1" lang="ja-JP" altLang="en-US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EEF77C4-7486-4CFA-819C-447D911598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6007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A60384E4-4BB1-42D8-90E8-420693B07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301" y="2043019"/>
            <a:ext cx="4100700" cy="230664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E0EEEBFE-487E-485B-8167-E232A851C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7428"/>
            <a:ext cx="10515600" cy="594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・</a:t>
            </a:r>
            <a:r>
              <a:rPr lang="ja-JP" altLang="en-US" b="1" dirty="0"/>
              <a:t>透明な板（</a:t>
            </a:r>
            <a:r>
              <a:rPr lang="en-US" altLang="ja-JP" b="1" dirty="0"/>
              <a:t>2D</a:t>
            </a:r>
            <a:r>
              <a:rPr lang="ja-JP" altLang="en-US" b="1" dirty="0"/>
              <a:t>空間）を通して３</a:t>
            </a:r>
            <a:r>
              <a:rPr lang="en-US" altLang="ja-JP" b="1" dirty="0"/>
              <a:t>D</a:t>
            </a:r>
            <a:r>
              <a:rPr lang="ja-JP" altLang="en-US" b="1" dirty="0"/>
              <a:t>世界を見ている</a:t>
            </a:r>
            <a:endParaRPr kumimoji="1" lang="ja-JP" altLang="en-US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E1F8691-06A5-49F8-BEB0-BAE47CA92A91}"/>
              </a:ext>
            </a:extLst>
          </p:cNvPr>
          <p:cNvSpPr txBox="1"/>
          <p:nvPr/>
        </p:nvSpPr>
        <p:spPr>
          <a:xfrm>
            <a:off x="1" y="1962468"/>
            <a:ext cx="8091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・</a:t>
            </a:r>
            <a:r>
              <a:rPr lang="en-US" altLang="ja-JP" sz="2800" b="1" dirty="0"/>
              <a:t>Scene</a:t>
            </a:r>
            <a:r>
              <a:rPr lang="ja-JP" altLang="en-US" sz="2800" b="1" dirty="0"/>
              <a:t>を繋いで、</a:t>
            </a:r>
            <a:r>
              <a:rPr kumimoji="1" lang="ja-JP" altLang="en-US" sz="2800" b="1" dirty="0"/>
              <a:t>ゲームを制作</a:t>
            </a:r>
            <a:endParaRPr kumimoji="1" lang="ja-JP" altLang="en-US" sz="16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4F7D720-64F3-400F-BC38-056168B16858}"/>
              </a:ext>
            </a:extLst>
          </p:cNvPr>
          <p:cNvSpPr txBox="1"/>
          <p:nvPr/>
        </p:nvSpPr>
        <p:spPr>
          <a:xfrm>
            <a:off x="0" y="2787369"/>
            <a:ext cx="10431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・</a:t>
            </a:r>
            <a:r>
              <a:rPr kumimoji="1" lang="ja-JP" altLang="en-US" sz="2800" b="1" dirty="0"/>
              <a:t>一つの</a:t>
            </a:r>
            <a:r>
              <a:rPr kumimoji="1" lang="en-US" altLang="ja-JP" sz="2800" b="1" dirty="0"/>
              <a:t>Scene</a:t>
            </a:r>
            <a:r>
              <a:rPr kumimoji="1" lang="ja-JP" altLang="en-US" sz="2800" b="1" dirty="0"/>
              <a:t>は多数のオブジェクトにより構成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0A4A70A-D401-4C2C-9FEC-9BE66BBC61B2}"/>
              </a:ext>
            </a:extLst>
          </p:cNvPr>
          <p:cNvSpPr txBox="1"/>
          <p:nvPr/>
        </p:nvSpPr>
        <p:spPr>
          <a:xfrm>
            <a:off x="0" y="3558584"/>
            <a:ext cx="10431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・</a:t>
            </a:r>
            <a:r>
              <a:rPr kumimoji="1" lang="ja-JP" altLang="en-US" sz="2800" b="1" dirty="0"/>
              <a:t>オブジェクトは複数のスクリプトで成り立つ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5758EAD-DCD4-427A-999E-A64B873E3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1357"/>
            <a:ext cx="4100699" cy="230664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9165B07-9466-4D1D-B5B5-773078BD5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698" y="4551357"/>
            <a:ext cx="4100699" cy="230664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2DDF1DC-CAAC-4852-91FF-E0A80F4E3D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301" y="4547798"/>
            <a:ext cx="4100699" cy="230664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5CC737E-82C1-404A-B902-CEC8F1FAF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85957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64E6AC-D48D-4C9B-8055-9A855D31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84" y="355542"/>
            <a:ext cx="7543158" cy="4510855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7564" y="3993991"/>
            <a:ext cx="6836871" cy="1038328"/>
          </a:xfrm>
        </p:spPr>
        <p:txBody>
          <a:bodyPr>
            <a:normAutofit fontScale="85000" lnSpcReduction="10000"/>
          </a:bodyPr>
          <a:lstStyle/>
          <a:p>
            <a:r>
              <a:rPr kumimoji="1" lang="ja-JP" altLang="en-US" sz="6600" dirty="0"/>
              <a:t>２</a:t>
            </a:r>
            <a:r>
              <a:rPr kumimoji="1" lang="en-US" altLang="ja-JP" sz="6600" dirty="0"/>
              <a:t>.Unity</a:t>
            </a:r>
            <a:r>
              <a:rPr lang="ja-JP" altLang="en-US" sz="6600" dirty="0"/>
              <a:t>の画面構成</a:t>
            </a:r>
            <a:endParaRPr kumimoji="1" lang="ja-JP" altLang="en-US" sz="4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F3B336F-9BED-4BBE-88A4-FFE156B1BF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63333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98" y="18661"/>
            <a:ext cx="10515600" cy="1230183"/>
          </a:xfrm>
        </p:spPr>
        <p:txBody>
          <a:bodyPr/>
          <a:lstStyle/>
          <a:p>
            <a:r>
              <a:rPr kumimoji="1" lang="en-US" altLang="ja-JP" b="1" dirty="0"/>
              <a:t>Unity</a:t>
            </a:r>
            <a:r>
              <a:rPr kumimoji="1" lang="ja-JP" altLang="en-US" b="1" dirty="0"/>
              <a:t>の画面構成１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C77A82-E13D-4DA3-A7B9-BDEE841229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72"/>
          <a:stretch/>
        </p:blipFill>
        <p:spPr>
          <a:xfrm>
            <a:off x="388620" y="1036528"/>
            <a:ext cx="7189627" cy="54864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35F9A5E-A880-47DD-AAE9-40899EC61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4" t="14402" b="77578"/>
          <a:stretch/>
        </p:blipFill>
        <p:spPr>
          <a:xfrm>
            <a:off x="5668615" y="1036528"/>
            <a:ext cx="2350405" cy="439999"/>
          </a:xfrm>
          <a:prstGeom prst="rect">
            <a:avLst/>
          </a:prstGeom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9EA2CD5-0388-4CC1-A159-625110B4435B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43817" y="1476527"/>
            <a:ext cx="1" cy="3272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BE891310-3749-4F3F-9EF6-733C68A5B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1101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98" y="18661"/>
            <a:ext cx="10515600" cy="1230183"/>
          </a:xfrm>
        </p:spPr>
        <p:txBody>
          <a:bodyPr/>
          <a:lstStyle/>
          <a:p>
            <a:r>
              <a:rPr kumimoji="1" lang="en-US" altLang="ja-JP" b="1" dirty="0"/>
              <a:t>Unity</a:t>
            </a:r>
            <a:r>
              <a:rPr kumimoji="1" lang="ja-JP" altLang="en-US" b="1" dirty="0"/>
              <a:t>の画面構成２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C77A82-E13D-4DA3-A7B9-BDEE841229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72"/>
          <a:stretch/>
        </p:blipFill>
        <p:spPr>
          <a:xfrm>
            <a:off x="45480" y="1036528"/>
            <a:ext cx="7189627" cy="54864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35F9A5E-A880-47DD-AAE9-40899EC61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4" t="14402" b="77578"/>
          <a:stretch/>
        </p:blipFill>
        <p:spPr>
          <a:xfrm>
            <a:off x="5242729" y="1036528"/>
            <a:ext cx="2350405" cy="439999"/>
          </a:xfrm>
          <a:prstGeom prst="rect">
            <a:avLst/>
          </a:prstGeom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9EA2CD5-0388-4CC1-A159-625110B4435B}"/>
              </a:ext>
            </a:extLst>
          </p:cNvPr>
          <p:cNvCxnSpPr>
            <a:cxnSpLocks/>
          </p:cNvCxnSpPr>
          <p:nvPr/>
        </p:nvCxnSpPr>
        <p:spPr>
          <a:xfrm flipV="1">
            <a:off x="6417932" y="1476527"/>
            <a:ext cx="1" cy="3272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04490202-4EEC-476E-813B-1287B1596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457" y="2055984"/>
            <a:ext cx="5006883" cy="330515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F3319EC-DE26-4EE2-86CB-69A8D26B5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3887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98" y="18661"/>
            <a:ext cx="10515600" cy="1230183"/>
          </a:xfrm>
        </p:spPr>
        <p:txBody>
          <a:bodyPr/>
          <a:lstStyle/>
          <a:p>
            <a:r>
              <a:rPr kumimoji="1" lang="en-US" altLang="ja-JP" b="1" dirty="0"/>
              <a:t>Unity</a:t>
            </a:r>
            <a:r>
              <a:rPr kumimoji="1" lang="ja-JP" altLang="en-US" b="1" dirty="0"/>
              <a:t>の画面構成３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AC77A82-E13D-4DA3-A7B9-BDEE841229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72"/>
          <a:stretch/>
        </p:blipFill>
        <p:spPr>
          <a:xfrm>
            <a:off x="45480" y="1036528"/>
            <a:ext cx="7189627" cy="54864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35F9A5E-A880-47DD-AAE9-40899EC61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4" t="14402" b="77578"/>
          <a:stretch/>
        </p:blipFill>
        <p:spPr>
          <a:xfrm>
            <a:off x="5242729" y="1036528"/>
            <a:ext cx="2350405" cy="439999"/>
          </a:xfrm>
          <a:prstGeom prst="rect">
            <a:avLst/>
          </a:prstGeom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9EA2CD5-0388-4CC1-A159-625110B4435B}"/>
              </a:ext>
            </a:extLst>
          </p:cNvPr>
          <p:cNvCxnSpPr>
            <a:cxnSpLocks/>
          </p:cNvCxnSpPr>
          <p:nvPr/>
        </p:nvCxnSpPr>
        <p:spPr>
          <a:xfrm flipV="1">
            <a:off x="6417932" y="1476527"/>
            <a:ext cx="1" cy="3272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149011AD-3DF6-4AF0-A957-1476F089C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08" y="1627467"/>
            <a:ext cx="4929982" cy="393408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16F1FCE-AD62-4EAF-A165-621E7D9BA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43835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61BC-8F57-02EC-0102-4A3A578D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31185B5-124D-DBD0-7045-F04862D376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84" y="355542"/>
            <a:ext cx="7543158" cy="4510855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CB787662-A2F5-F58C-3F84-59CD3D4F0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7564" y="3993991"/>
            <a:ext cx="6836871" cy="1038328"/>
          </a:xfrm>
        </p:spPr>
        <p:txBody>
          <a:bodyPr>
            <a:normAutofit/>
          </a:bodyPr>
          <a:lstStyle/>
          <a:p>
            <a:r>
              <a:rPr lang="ja-JP" altLang="en-US" sz="6600" dirty="0"/>
              <a:t>３</a:t>
            </a:r>
            <a:r>
              <a:rPr lang="en-US" altLang="ja-JP" sz="6600" dirty="0"/>
              <a:t>.</a:t>
            </a:r>
            <a:r>
              <a:rPr kumimoji="1" lang="en-US" altLang="ja-JP" sz="6600" dirty="0"/>
              <a:t>Unity</a:t>
            </a:r>
            <a:r>
              <a:rPr lang="ja-JP" altLang="en-US" sz="6600" dirty="0"/>
              <a:t>と</a:t>
            </a:r>
            <a:r>
              <a:rPr lang="en-US" altLang="ja-JP" sz="6600" dirty="0"/>
              <a:t>C#</a:t>
            </a:r>
            <a:endParaRPr kumimoji="1" lang="ja-JP" altLang="en-US" sz="4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B497E23-7DC8-19B9-8C54-3FF2E7E29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34" y="101484"/>
            <a:ext cx="1405354" cy="281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1355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Unity</a:t>
            </a:r>
            <a:r>
              <a:rPr kumimoji="1" lang="ja-JP" altLang="en-US" dirty="0"/>
              <a:t>は</a:t>
            </a:r>
            <a:r>
              <a:rPr kumimoji="1" lang="en-US" altLang="ja-JP" dirty="0"/>
              <a:t>C#</a:t>
            </a:r>
            <a:r>
              <a:rPr kumimoji="1" lang="ja-JP" altLang="en-US" dirty="0"/>
              <a:t>で動かす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539F66-5BA7-4BBB-A6DB-9186CA691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08"/>
            <a:ext cx="10515600" cy="2752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dirty="0"/>
              <a:t>・</a:t>
            </a:r>
            <a:r>
              <a:rPr lang="en-US" altLang="ja-JP" sz="3200" b="1" u="sng" dirty="0"/>
              <a:t>Unity</a:t>
            </a:r>
            <a:r>
              <a:rPr lang="ja-JP" altLang="en-US" sz="3200" b="1" u="sng" dirty="0"/>
              <a:t>はゲームエンジン</a:t>
            </a:r>
            <a:endParaRPr lang="en-US" altLang="ja-JP" sz="3200" b="1" u="sng" dirty="0"/>
          </a:p>
          <a:p>
            <a:pPr marL="0" indent="0">
              <a:buNone/>
            </a:pPr>
            <a:r>
              <a:rPr kumimoji="1" lang="ja-JP" altLang="en-US" sz="3200" dirty="0"/>
              <a:t>　　ー</a:t>
            </a:r>
            <a:r>
              <a:rPr kumimoji="1" lang="ja-JP" altLang="en-US" dirty="0"/>
              <a:t>　正確にはエディタ付きフレームワーク</a:t>
            </a:r>
            <a:endParaRPr kumimoji="1"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　ー</a:t>
            </a:r>
            <a:r>
              <a:rPr lang="ja-JP" altLang="en-US" dirty="0"/>
              <a:t>　３</a:t>
            </a:r>
            <a:r>
              <a:rPr lang="en-US" altLang="ja-JP" dirty="0"/>
              <a:t>D</a:t>
            </a:r>
            <a:r>
              <a:rPr lang="ja-JP" altLang="en-US" dirty="0"/>
              <a:t>モデルや画像、音・光・重力計算などをする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　　</a:t>
            </a:r>
            <a:r>
              <a:rPr lang="ja-JP" altLang="en-US" dirty="0"/>
              <a:t>ー　「</a:t>
            </a:r>
            <a:r>
              <a:rPr lang="ja-JP" altLang="en-US" b="1" u="sng" dirty="0"/>
              <a:t>マリオを走らせる</a:t>
            </a:r>
            <a:r>
              <a:rPr lang="ja-JP" altLang="en-US" dirty="0"/>
              <a:t>」等の作業は製作者が行う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 ー　その命令は</a:t>
            </a:r>
            <a:r>
              <a:rPr lang="en-US" altLang="ja-JP" dirty="0"/>
              <a:t>C#</a:t>
            </a:r>
            <a:r>
              <a:rPr lang="ja-JP" altLang="en-US" dirty="0"/>
              <a:t>で書き込む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7EEA49-2802-48DB-BE2E-BE30871A9453}"/>
              </a:ext>
            </a:extLst>
          </p:cNvPr>
          <p:cNvSpPr txBox="1"/>
          <p:nvPr/>
        </p:nvSpPr>
        <p:spPr>
          <a:xfrm>
            <a:off x="286557" y="4730180"/>
            <a:ext cx="11618886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400" b="1" dirty="0"/>
              <a:t>プログラミング（スクリプティング）は</a:t>
            </a:r>
            <a:r>
              <a:rPr kumimoji="1" lang="en-US" altLang="ja-JP" sz="4400" b="1" dirty="0"/>
              <a:t>C#</a:t>
            </a:r>
            <a:r>
              <a:rPr kumimoji="1" lang="ja-JP" altLang="en-US" sz="4400" b="1" dirty="0"/>
              <a:t>で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128039F-44D9-458F-BEF8-E8DEEB51B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25659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51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C#</a:t>
            </a:r>
            <a:r>
              <a:rPr kumimoji="1" lang="ja-JP" altLang="en-US" dirty="0"/>
              <a:t>ってなんだろ？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80DE3F-BADD-4E44-8AEE-7E47FCA073EE}"/>
              </a:ext>
            </a:extLst>
          </p:cNvPr>
          <p:cNvSpPr txBox="1"/>
          <p:nvPr/>
        </p:nvSpPr>
        <p:spPr>
          <a:xfrm>
            <a:off x="62748" y="1332614"/>
            <a:ext cx="10344499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・</a:t>
            </a:r>
            <a:r>
              <a:rPr kumimoji="1" lang="en-US" altLang="ja-JP" sz="3200" b="1" u="sng" dirty="0"/>
              <a:t>Microsoft</a:t>
            </a:r>
            <a:r>
              <a:rPr kumimoji="1" lang="ja-JP" altLang="en-US" sz="3200" b="1" u="sng" dirty="0"/>
              <a:t>が作ったプログラミング言語</a:t>
            </a:r>
            <a:endParaRPr kumimoji="1" lang="en-US" altLang="ja-JP" sz="3200" b="1" u="sng" dirty="0"/>
          </a:p>
          <a:p>
            <a:r>
              <a:rPr lang="ja-JP" altLang="en-US" sz="2800" dirty="0"/>
              <a:t>　　ー　</a:t>
            </a:r>
            <a:r>
              <a:rPr lang="en-US" altLang="ja-JP" sz="2800" dirty="0"/>
              <a:t>C</a:t>
            </a:r>
            <a:r>
              <a:rPr lang="ja-JP" altLang="en-US" sz="2800" dirty="0"/>
              <a:t>をベースに</a:t>
            </a:r>
            <a:r>
              <a:rPr lang="en-US" altLang="ja-JP" sz="2800" dirty="0"/>
              <a:t>java</a:t>
            </a:r>
            <a:r>
              <a:rPr lang="ja-JP" altLang="en-US" sz="2800" dirty="0"/>
              <a:t>風に作った言語</a:t>
            </a:r>
            <a:endParaRPr lang="en-US" altLang="ja-JP" sz="2800" dirty="0"/>
          </a:p>
          <a:p>
            <a:r>
              <a:rPr kumimoji="1" lang="ja-JP" altLang="en-US" sz="2800" dirty="0"/>
              <a:t>　　ー　難易度は</a:t>
            </a:r>
            <a:r>
              <a:rPr kumimoji="1" lang="en-US" altLang="ja-JP" sz="2800" dirty="0"/>
              <a:t>python</a:t>
            </a:r>
            <a:r>
              <a:rPr kumimoji="1" lang="ja-JP" altLang="en-US" sz="2800" dirty="0"/>
              <a:t>以上</a:t>
            </a:r>
            <a:r>
              <a:rPr kumimoji="1" lang="en-US" altLang="ja-JP" sz="2800" dirty="0"/>
              <a:t>java</a:t>
            </a:r>
            <a:r>
              <a:rPr kumimoji="1" lang="ja-JP" altLang="en-US" sz="2800" dirty="0"/>
              <a:t>未満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最近は違う</a:t>
            </a:r>
            <a:r>
              <a:rPr kumimoji="1" lang="en-US" altLang="ja-JP" sz="2800" dirty="0"/>
              <a:t>)</a:t>
            </a:r>
            <a:r>
              <a:rPr kumimoji="1" lang="ja-JP" altLang="en-US" sz="2800" dirty="0"/>
              <a:t>という具合</a:t>
            </a:r>
            <a:endParaRPr kumimoji="1" lang="en-US" altLang="ja-JP" sz="2800" dirty="0"/>
          </a:p>
          <a:p>
            <a:r>
              <a:rPr lang="ja-JP" altLang="en-US" sz="2800" dirty="0"/>
              <a:t>　　ー　</a:t>
            </a:r>
            <a:r>
              <a:rPr lang="en-US" altLang="ja-JP" sz="2800" dirty="0"/>
              <a:t>C/C++</a:t>
            </a:r>
            <a:r>
              <a:rPr lang="ja-JP" altLang="en-US" sz="2800" dirty="0"/>
              <a:t>と比べると思いが、それに続くくらいの速度</a:t>
            </a:r>
            <a:endParaRPr kumimoji="1" lang="en-US" altLang="ja-JP" sz="2800" dirty="0"/>
          </a:p>
          <a:p>
            <a:r>
              <a:rPr lang="ja-JP" altLang="en-US" sz="2800" dirty="0"/>
              <a:t>　　ー　</a:t>
            </a:r>
            <a:r>
              <a:rPr lang="en-US" altLang="ja-JP" sz="2800" dirty="0"/>
              <a:t>Win</a:t>
            </a:r>
            <a:r>
              <a:rPr lang="ja-JP" altLang="en-US" sz="2800" dirty="0"/>
              <a:t>プログラミングでは最もベターな言語</a:t>
            </a:r>
            <a:endParaRPr lang="en-US" altLang="ja-JP" sz="2800" dirty="0"/>
          </a:p>
          <a:p>
            <a:r>
              <a:rPr kumimoji="1" lang="ja-JP" altLang="en-US" sz="2800" dirty="0"/>
              <a:t>　　ー　リファレンスが豊富で学びやすい</a:t>
            </a:r>
            <a:endParaRPr kumimoji="1" lang="en-US" altLang="ja-JP" sz="2800" dirty="0"/>
          </a:p>
          <a:p>
            <a:r>
              <a:rPr lang="ja-JP" altLang="en-US" sz="2800" dirty="0"/>
              <a:t>　　ー　複雑な処理も簡単に出来る</a:t>
            </a:r>
            <a:endParaRPr lang="en-US" altLang="ja-JP" sz="2800" dirty="0"/>
          </a:p>
          <a:p>
            <a:r>
              <a:rPr kumimoji="1" lang="ja-JP" altLang="en-US" sz="2800" dirty="0"/>
              <a:t>　　ー　</a:t>
            </a:r>
            <a:r>
              <a:rPr kumimoji="1" lang="en-US" altLang="ja-JP" sz="2800" dirty="0"/>
              <a:t>Unity</a:t>
            </a:r>
            <a:r>
              <a:rPr kumimoji="1" lang="ja-JP" altLang="en-US" sz="2800" dirty="0"/>
              <a:t>との相性が良い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55192E5-9B65-4852-A64B-A1B7B14EB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698" y="-747694"/>
            <a:ext cx="5428821" cy="283505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46B9EC7-BBF9-42EF-828C-846B0CE48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50" y="4137712"/>
            <a:ext cx="4933950" cy="2775347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A579E2B-CD08-400E-B21A-DE90F01B4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76441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51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具体的にどう使うか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8BEE72A-B6EA-40CE-9597-19AEBA46C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665"/>
            <a:ext cx="6445250" cy="4293528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1C52BE6D-7C49-451B-B80D-159C31A0C7B8}"/>
              </a:ext>
            </a:extLst>
          </p:cNvPr>
          <p:cNvCxnSpPr/>
          <p:nvPr/>
        </p:nvCxnSpPr>
        <p:spPr>
          <a:xfrm>
            <a:off x="3448050" y="3829050"/>
            <a:ext cx="1085850" cy="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C22452-DC0D-47B8-8C64-0690C26B1377}"/>
              </a:ext>
            </a:extLst>
          </p:cNvPr>
          <p:cNvSpPr txBox="1"/>
          <p:nvPr/>
        </p:nvSpPr>
        <p:spPr>
          <a:xfrm>
            <a:off x="6445250" y="2582614"/>
            <a:ext cx="5479385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/>
              <a:t>１．方向キーを右への入力を取得</a:t>
            </a:r>
            <a:endParaRPr lang="en-US" altLang="ja-JP" dirty="0"/>
          </a:p>
          <a:p>
            <a:r>
              <a:rPr kumimoji="1" lang="ja-JP" altLang="en-US" dirty="0"/>
              <a:t>２．マリオのモーションを歩きモーションにする</a:t>
            </a:r>
            <a:endParaRPr kumimoji="1" lang="en-US" altLang="ja-JP" dirty="0"/>
          </a:p>
          <a:p>
            <a:r>
              <a:rPr lang="ja-JP" altLang="en-US" dirty="0"/>
              <a:t>３．マリオの座標を右にずらす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　</a:t>
            </a:r>
            <a:r>
              <a:rPr kumimoji="1" lang="ja-JP" altLang="en-US" sz="3200" b="1" u="sng" dirty="0">
                <a:solidFill>
                  <a:srgbClr val="FF0000"/>
                </a:solidFill>
              </a:rPr>
              <a:t>以上の内容は</a:t>
            </a:r>
            <a:r>
              <a:rPr kumimoji="1" lang="en-US" altLang="ja-JP" sz="3200" b="1" u="sng" dirty="0">
                <a:solidFill>
                  <a:srgbClr val="FF0000"/>
                </a:solidFill>
              </a:rPr>
              <a:t>C#</a:t>
            </a:r>
            <a:r>
              <a:rPr kumimoji="1" lang="ja-JP" altLang="en-US" sz="3200" b="1" u="sng" dirty="0">
                <a:solidFill>
                  <a:srgbClr val="FF0000"/>
                </a:solidFill>
              </a:rPr>
              <a:t>で実装する</a:t>
            </a:r>
            <a:endParaRPr kumimoji="1" lang="ja-JP" altLang="en-US" b="1" u="sng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3315B9-9FD4-4E90-B6C9-5BFEBEAB9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03286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111512" y="196418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Unity</a:t>
            </a:r>
            <a:r>
              <a:rPr lang="ja-JP" altLang="en-US" dirty="0">
                <a:solidFill>
                  <a:schemeClr val="tx1"/>
                </a:solidFill>
              </a:rPr>
              <a:t>で</a:t>
            </a:r>
            <a:r>
              <a:rPr lang="en-US" altLang="ja-JP" dirty="0">
                <a:solidFill>
                  <a:schemeClr val="tx1"/>
                </a:solidFill>
              </a:rPr>
              <a:t>C#</a:t>
            </a:r>
            <a:r>
              <a:rPr lang="ja-JP" altLang="en-US" dirty="0">
                <a:solidFill>
                  <a:schemeClr val="tx1"/>
                </a:solidFill>
              </a:rPr>
              <a:t>　ー　</a:t>
            </a:r>
            <a:r>
              <a:rPr lang="en-US" altLang="ja-JP" dirty="0">
                <a:solidFill>
                  <a:schemeClr val="tx1"/>
                </a:solidFill>
              </a:rPr>
              <a:t>Start()</a:t>
            </a:r>
            <a:r>
              <a:rPr lang="ja-JP" altLang="en-US" dirty="0">
                <a:solidFill>
                  <a:schemeClr val="tx1"/>
                </a:solidFill>
              </a:rPr>
              <a:t>　　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B605769-DC9D-4B07-A4DF-9D299947D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818"/>
            <a:ext cx="7215542" cy="5804764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BF39A343-E5D9-4AEF-8E32-10BCAF6A2A84}"/>
              </a:ext>
            </a:extLst>
          </p:cNvPr>
          <p:cNvSpPr/>
          <p:nvPr/>
        </p:nvSpPr>
        <p:spPr>
          <a:xfrm>
            <a:off x="269965" y="3073037"/>
            <a:ext cx="2878183" cy="15904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BCC1945-0623-44CE-BFDC-39B804E309C5}"/>
              </a:ext>
            </a:extLst>
          </p:cNvPr>
          <p:cNvSpPr txBox="1"/>
          <p:nvPr/>
        </p:nvSpPr>
        <p:spPr>
          <a:xfrm>
            <a:off x="4933980" y="3288467"/>
            <a:ext cx="7146508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4000" b="1" dirty="0"/>
              <a:t>最初に</a:t>
            </a:r>
            <a:r>
              <a:rPr lang="en-US" altLang="ja-JP" sz="4000" b="1" dirty="0"/>
              <a:t>1</a:t>
            </a:r>
            <a:r>
              <a:rPr lang="ja-JP" altLang="en-US" sz="4000" b="1" dirty="0"/>
              <a:t>度だけ実行される処理</a:t>
            </a:r>
            <a:endParaRPr kumimoji="1" lang="ja-JP" altLang="en-US" sz="24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7CCB4F-D05A-47CF-BB42-927587B8460C}"/>
              </a:ext>
            </a:extLst>
          </p:cNvPr>
          <p:cNvSpPr txBox="1"/>
          <p:nvPr/>
        </p:nvSpPr>
        <p:spPr>
          <a:xfrm>
            <a:off x="6797085" y="4247940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実行時に一度だけ実行される。</a:t>
            </a:r>
            <a:endParaRPr kumimoji="1" lang="en-US" altLang="ja-JP" sz="2400" dirty="0"/>
          </a:p>
          <a:p>
            <a:r>
              <a:rPr lang="ja-JP" altLang="en-US" sz="2400" dirty="0"/>
              <a:t>初期化処理などを書く。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57942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111512" y="196418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Unity</a:t>
            </a:r>
            <a:r>
              <a:rPr lang="ja-JP" altLang="en-US" dirty="0">
                <a:solidFill>
                  <a:schemeClr val="tx1"/>
                </a:solidFill>
              </a:rPr>
              <a:t>で</a:t>
            </a:r>
            <a:r>
              <a:rPr lang="en-US" altLang="ja-JP" dirty="0">
                <a:solidFill>
                  <a:schemeClr val="tx1"/>
                </a:solidFill>
              </a:rPr>
              <a:t>C#</a:t>
            </a:r>
            <a:r>
              <a:rPr lang="ja-JP" altLang="en-US" dirty="0">
                <a:solidFill>
                  <a:schemeClr val="tx1"/>
                </a:solidFill>
              </a:rPr>
              <a:t>　ー　</a:t>
            </a:r>
            <a:r>
              <a:rPr lang="en-US" altLang="ja-JP" dirty="0">
                <a:solidFill>
                  <a:schemeClr val="tx1"/>
                </a:solidFill>
              </a:rPr>
              <a:t>Update()</a:t>
            </a:r>
            <a:r>
              <a:rPr lang="ja-JP" altLang="en-US" dirty="0">
                <a:solidFill>
                  <a:schemeClr val="tx1"/>
                </a:solidFill>
              </a:rPr>
              <a:t>　　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1ED1FB8-2E2F-4645-BE97-8EFBF56EF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819"/>
            <a:ext cx="7215542" cy="5804764"/>
          </a:xfrm>
          <a:prstGeom prst="rect">
            <a:avLst/>
          </a:prstGeom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0B70FF16-53CD-4636-AF16-E1C532036C48}"/>
              </a:ext>
            </a:extLst>
          </p:cNvPr>
          <p:cNvSpPr/>
          <p:nvPr/>
        </p:nvSpPr>
        <p:spPr>
          <a:xfrm>
            <a:off x="374468" y="4954088"/>
            <a:ext cx="2878183" cy="15904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9E7A03B-7ECF-4F23-AA6A-B2E955B62C93}"/>
              </a:ext>
            </a:extLst>
          </p:cNvPr>
          <p:cNvSpPr txBox="1"/>
          <p:nvPr/>
        </p:nvSpPr>
        <p:spPr>
          <a:xfrm>
            <a:off x="6248689" y="3343702"/>
            <a:ext cx="5724644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4800" b="1" dirty="0"/>
              <a:t>常時実行される処理</a:t>
            </a:r>
            <a:endParaRPr kumimoji="1" lang="ja-JP" altLang="en-US" sz="3200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2DDA8D3-43E6-4A68-BE11-B818A4C843DA}"/>
              </a:ext>
            </a:extLst>
          </p:cNvPr>
          <p:cNvSpPr txBox="1"/>
          <p:nvPr/>
        </p:nvSpPr>
        <p:spPr>
          <a:xfrm>
            <a:off x="6797085" y="4247940"/>
            <a:ext cx="505779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</a:t>
            </a:r>
            <a:r>
              <a:rPr kumimoji="1" lang="ja-JP" altLang="en-US" sz="2400" dirty="0"/>
              <a:t>フレーム毎に実行される処理。</a:t>
            </a:r>
            <a:endParaRPr lang="en-US" altLang="ja-JP" sz="2000" dirty="0"/>
          </a:p>
          <a:p>
            <a:r>
              <a:rPr kumimoji="1" lang="ja-JP" altLang="en-US" sz="2000" dirty="0"/>
              <a:t>プレイヤーに向かって移動する。</a:t>
            </a:r>
            <a:endParaRPr kumimoji="1" lang="en-US" altLang="ja-JP" sz="2000" dirty="0"/>
          </a:p>
          <a:p>
            <a:r>
              <a:rPr lang="ja-JP" altLang="en-US" sz="2000" dirty="0"/>
              <a:t>などの、常時実行される処理を記述する。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11923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B8D3F13-3E69-4064-BE74-116C12B5B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6" y="3637216"/>
            <a:ext cx="4881132" cy="315136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111512" y="196418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Unity</a:t>
            </a:r>
            <a:r>
              <a:rPr lang="ja-JP" altLang="en-US" dirty="0">
                <a:solidFill>
                  <a:schemeClr val="tx1"/>
                </a:solidFill>
              </a:rPr>
              <a:t>で</a:t>
            </a:r>
            <a:r>
              <a:rPr lang="en-US" altLang="ja-JP" dirty="0">
                <a:solidFill>
                  <a:schemeClr val="tx1"/>
                </a:solidFill>
              </a:rPr>
              <a:t>C#</a:t>
            </a:r>
            <a:r>
              <a:rPr lang="ja-JP" altLang="en-US" dirty="0">
                <a:solidFill>
                  <a:schemeClr val="tx1"/>
                </a:solidFill>
              </a:rPr>
              <a:t>　ー　</a:t>
            </a:r>
            <a:r>
              <a:rPr lang="en-US" altLang="ja-JP" dirty="0" err="1">
                <a:solidFill>
                  <a:schemeClr val="tx1"/>
                </a:solidFill>
              </a:rPr>
              <a:t>Debug.Log</a:t>
            </a:r>
            <a:r>
              <a:rPr lang="en-US" altLang="ja-JP" dirty="0">
                <a:solidFill>
                  <a:schemeClr val="tx1"/>
                </a:solidFill>
              </a:rPr>
              <a:t>()</a:t>
            </a:r>
            <a:r>
              <a:rPr lang="ja-JP" altLang="en-US" dirty="0">
                <a:solidFill>
                  <a:schemeClr val="tx1"/>
                </a:solidFill>
              </a:rPr>
              <a:t>　　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07355C7-5A41-4222-835D-232151AAC5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2" y="999543"/>
            <a:ext cx="5408112" cy="29111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95633EE-5BED-4292-B85B-56FF48C73872}"/>
              </a:ext>
            </a:extLst>
          </p:cNvPr>
          <p:cNvSpPr txBox="1"/>
          <p:nvPr/>
        </p:nvSpPr>
        <p:spPr>
          <a:xfrm>
            <a:off x="6672378" y="2598003"/>
            <a:ext cx="4597734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4800" b="1" dirty="0"/>
              <a:t>Debug</a:t>
            </a:r>
            <a:r>
              <a:rPr kumimoji="1" lang="ja-JP" altLang="en-US" sz="4800" b="1" dirty="0"/>
              <a:t>時に使う</a:t>
            </a:r>
            <a:endParaRPr kumimoji="1" lang="ja-JP" altLang="en-US" sz="32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DFA399A-B641-436B-8770-C768EACC8B21}"/>
              </a:ext>
            </a:extLst>
          </p:cNvPr>
          <p:cNvSpPr txBox="1"/>
          <p:nvPr/>
        </p:nvSpPr>
        <p:spPr>
          <a:xfrm>
            <a:off x="6548891" y="391069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変数の状態などを確認する際に使う</a:t>
            </a:r>
            <a:endParaRPr kumimoji="1" lang="en-US" altLang="ja-JP" sz="24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7EA1F62-BA27-4BEF-82B7-2B32C167A4DD}"/>
              </a:ext>
            </a:extLst>
          </p:cNvPr>
          <p:cNvSpPr/>
          <p:nvPr/>
        </p:nvSpPr>
        <p:spPr>
          <a:xfrm>
            <a:off x="921888" y="3017519"/>
            <a:ext cx="2878183" cy="61969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56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111512" y="196418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>
                <a:solidFill>
                  <a:schemeClr val="tx1"/>
                </a:solidFill>
              </a:rPr>
              <a:t>Unity</a:t>
            </a:r>
            <a:r>
              <a:rPr lang="ja-JP" altLang="en-US" dirty="0">
                <a:solidFill>
                  <a:schemeClr val="tx1"/>
                </a:solidFill>
              </a:rPr>
              <a:t>で</a:t>
            </a:r>
            <a:r>
              <a:rPr lang="en-US" altLang="ja-JP" dirty="0">
                <a:solidFill>
                  <a:schemeClr val="tx1"/>
                </a:solidFill>
              </a:rPr>
              <a:t>C#</a:t>
            </a:r>
            <a:r>
              <a:rPr lang="ja-JP" altLang="en-US" dirty="0">
                <a:solidFill>
                  <a:schemeClr val="tx1"/>
                </a:solidFill>
              </a:rPr>
              <a:t>　ー　軽めにプログラミング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98DDBA78-29CB-4A80-9BEA-86511EA25518}"/>
              </a:ext>
            </a:extLst>
          </p:cNvPr>
          <p:cNvSpPr txBox="1">
            <a:spLocks/>
          </p:cNvSpPr>
          <p:nvPr/>
        </p:nvSpPr>
        <p:spPr>
          <a:xfrm>
            <a:off x="5374432" y="1306286"/>
            <a:ext cx="6817568" cy="1286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dirty="0"/>
              <a:t>・左のコードを入力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・右下の結果が出れば成功</a:t>
            </a:r>
            <a:endParaRPr lang="en-US" altLang="ja-JP" sz="32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7E8AB27-00E9-4C55-AFCA-610C98603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2" y="1306286"/>
            <a:ext cx="5074263" cy="398374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8A23C66-6247-4DCD-8518-3E552E76F7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92756"/>
            <a:ext cx="4397888" cy="3968826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86B44F4E-43DA-445F-A8CD-BCDDE9F3F29E}"/>
              </a:ext>
            </a:extLst>
          </p:cNvPr>
          <p:cNvSpPr/>
          <p:nvPr/>
        </p:nvSpPr>
        <p:spPr>
          <a:xfrm>
            <a:off x="843511" y="3148149"/>
            <a:ext cx="2878183" cy="214187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165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FE450E9-4586-4B48-972D-14C9C040F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909" y="101484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タイトル 1">
            <a:extLst>
              <a:ext uri="{FF2B5EF4-FFF2-40B4-BE49-F238E27FC236}">
                <a16:creationId xmlns:a16="http://schemas.microsoft.com/office/drawing/2014/main" id="{455EA0C2-4FB9-43BC-8B7F-C436C1DEF47F}"/>
              </a:ext>
            </a:extLst>
          </p:cNvPr>
          <p:cNvSpPr txBox="1">
            <a:spLocks/>
          </p:cNvSpPr>
          <p:nvPr/>
        </p:nvSpPr>
        <p:spPr>
          <a:xfrm>
            <a:off x="111512" y="196418"/>
            <a:ext cx="8596668" cy="660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ja-JP" altLang="en-US" dirty="0">
                <a:solidFill>
                  <a:schemeClr val="tx1"/>
                </a:solidFill>
              </a:rPr>
              <a:t>さて、ここで大事なお話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DC234A-FAEF-478A-946F-2AFE0462D02A}"/>
              </a:ext>
            </a:extLst>
          </p:cNvPr>
          <p:cNvSpPr txBox="1"/>
          <p:nvPr/>
        </p:nvSpPr>
        <p:spPr>
          <a:xfrm>
            <a:off x="1296465" y="1303913"/>
            <a:ext cx="2969082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en-US" altLang="ja-JP" sz="4000" dirty="0"/>
              <a:t>Unity</a:t>
            </a:r>
            <a:r>
              <a:rPr kumimoji="1" lang="ja-JP" altLang="en-US" sz="4000" dirty="0"/>
              <a:t>は簡単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406CFA5-9524-4B54-97DC-BF526C24D217}"/>
              </a:ext>
            </a:extLst>
          </p:cNvPr>
          <p:cNvSpPr txBox="1"/>
          <p:nvPr/>
        </p:nvSpPr>
        <p:spPr>
          <a:xfrm>
            <a:off x="1296465" y="2013228"/>
            <a:ext cx="3775393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4000" dirty="0"/>
              <a:t>初心者でも楽勝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D211D3-A2BB-4843-B776-6394204A83F1}"/>
              </a:ext>
            </a:extLst>
          </p:cNvPr>
          <p:cNvSpPr txBox="1"/>
          <p:nvPr/>
        </p:nvSpPr>
        <p:spPr>
          <a:xfrm>
            <a:off x="1296465" y="2721114"/>
            <a:ext cx="5827236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4000" dirty="0"/>
              <a:t>プログラミング要らない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40C495-E18E-4EE9-938E-908444C407A9}"/>
              </a:ext>
            </a:extLst>
          </p:cNvPr>
          <p:cNvSpPr txBox="1"/>
          <p:nvPr/>
        </p:nvSpPr>
        <p:spPr>
          <a:xfrm>
            <a:off x="1763485" y="3876095"/>
            <a:ext cx="9161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こんな話をネット上とかで聞いたことがありませんか？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60C7D4-987B-4F22-B24D-4E77FB2BDBC7}"/>
              </a:ext>
            </a:extLst>
          </p:cNvPr>
          <p:cNvSpPr txBox="1"/>
          <p:nvPr/>
        </p:nvSpPr>
        <p:spPr>
          <a:xfrm>
            <a:off x="1822249" y="4399315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（ゲーム業界的には正解ですが、皆さんにとっては不正解です）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7FA88A-166F-417A-95A6-F6750BAC8380}"/>
              </a:ext>
            </a:extLst>
          </p:cNvPr>
          <p:cNvSpPr txBox="1"/>
          <p:nvPr/>
        </p:nvSpPr>
        <p:spPr>
          <a:xfrm>
            <a:off x="1763485" y="5293277"/>
            <a:ext cx="80329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ゲームもどきならともかく、</a:t>
            </a:r>
            <a:endParaRPr kumimoji="1" lang="en-US" altLang="ja-JP" dirty="0"/>
          </a:p>
          <a:p>
            <a:r>
              <a:rPr lang="ja-JP" altLang="en-US" sz="3600" u="sng" dirty="0"/>
              <a:t>真面目に作ればそれなりに大変です</a:t>
            </a:r>
            <a:r>
              <a:rPr lang="ja-JP" altLang="en-US" sz="3600" dirty="0"/>
              <a:t>。</a:t>
            </a:r>
            <a:endParaRPr kumimoji="1" lang="ja-JP" altLang="en-US" sz="36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4815411D-907C-448A-B8D9-513493913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567" y="1041503"/>
            <a:ext cx="4558684" cy="238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73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364E6AC-D48D-4C9B-8055-9A855D31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607" y="290560"/>
            <a:ext cx="8528728" cy="4577667"/>
          </a:xfrm>
          <a:prstGeom prst="rect">
            <a:avLst/>
          </a:prstGeom>
        </p:spPr>
      </p:pic>
      <p:sp>
        <p:nvSpPr>
          <p:cNvPr id="3" name="字幕 2">
            <a:extLst>
              <a:ext uri="{FF2B5EF4-FFF2-40B4-BE49-F238E27FC236}">
                <a16:creationId xmlns:a16="http://schemas.microsoft.com/office/drawing/2014/main" id="{535C0DF4-93D2-4C55-BB27-5EF76EBBE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2691" y="3829899"/>
            <a:ext cx="6366617" cy="1038328"/>
          </a:xfrm>
        </p:spPr>
        <p:txBody>
          <a:bodyPr>
            <a:normAutofit fontScale="85000" lnSpcReduction="10000"/>
          </a:bodyPr>
          <a:lstStyle/>
          <a:p>
            <a:r>
              <a:rPr lang="en-US" altLang="ja-JP" sz="6600" dirty="0"/>
              <a:t>4.UnityOneWeek!</a:t>
            </a:r>
            <a:endParaRPr kumimoji="1" lang="ja-JP" altLang="en-US" sz="4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12FF675-F672-479E-A174-3D9B1A1B3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53511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D9AE6-822C-4BE7-879F-345AB48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ゲームを勉強する為には以下の能力が</a:t>
            </a:r>
            <a:r>
              <a:rPr lang="ja-JP" altLang="en-US" sz="3200" b="1" dirty="0"/>
              <a:t>必須です</a:t>
            </a:r>
            <a:r>
              <a:rPr kumimoji="1" lang="ja-JP" altLang="en-US" sz="3200" b="1" dirty="0"/>
              <a:t>！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3128039F-44D9-458F-BEF8-E8DEEB51B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FEECEC-92BF-E04C-BB34-15217FF76D58}"/>
              </a:ext>
            </a:extLst>
          </p:cNvPr>
          <p:cNvSpPr txBox="1"/>
          <p:nvPr/>
        </p:nvSpPr>
        <p:spPr>
          <a:xfrm>
            <a:off x="550506" y="1443841"/>
            <a:ext cx="519405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 dirty="0"/>
              <a:t>1.</a:t>
            </a:r>
            <a:r>
              <a:rPr kumimoji="1" lang="ja-JP" altLang="en-US" sz="3600" b="1" dirty="0"/>
              <a:t>自ら能動的に学ぶ能力</a:t>
            </a:r>
            <a:endParaRPr lang="en-US" altLang="ja-JP" sz="3600" b="1" dirty="0"/>
          </a:p>
          <a:p>
            <a:r>
              <a:rPr kumimoji="1" lang="ja-JP" altLang="en-US" dirty="0"/>
              <a:t>　ー　自分の目標を自分で立てる能力</a:t>
            </a:r>
            <a:endParaRPr kumimoji="1" lang="en-US" altLang="ja-JP" dirty="0"/>
          </a:p>
          <a:p>
            <a:r>
              <a:rPr lang="ja-JP" altLang="en-US" dirty="0"/>
              <a:t>　ー　自分の問題を自ら見つける能力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sz="3600" b="1" dirty="0"/>
              <a:t>2.</a:t>
            </a:r>
            <a:r>
              <a:rPr kumimoji="1" lang="ja-JP" altLang="en-US" sz="3600" b="1" dirty="0"/>
              <a:t>助けを求める能力</a:t>
            </a:r>
            <a:endParaRPr kumimoji="1" lang="en-US" altLang="ja-JP" sz="3600" b="1" dirty="0"/>
          </a:p>
          <a:p>
            <a:r>
              <a:rPr lang="ja-JP" altLang="en-US" dirty="0"/>
              <a:t>　</a:t>
            </a:r>
            <a:r>
              <a:rPr lang="en-US" altLang="ja-JP" dirty="0"/>
              <a:t>―</a:t>
            </a:r>
            <a:r>
              <a:rPr lang="ja-JP" altLang="en-US" dirty="0"/>
              <a:t>　自分の問題を他人に伝える能力</a:t>
            </a:r>
            <a:endParaRPr lang="en-US" altLang="ja-JP" dirty="0"/>
          </a:p>
          <a:p>
            <a:r>
              <a:rPr lang="ja-JP" altLang="en-US" dirty="0"/>
              <a:t>　ー　他人の力を自らの力にする能力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sz="3600" b="1" dirty="0"/>
              <a:t>3.</a:t>
            </a:r>
            <a:r>
              <a:rPr lang="ja-JP" altLang="en-US" sz="3600" b="1" dirty="0"/>
              <a:t>ガムシャラ力</a:t>
            </a:r>
            <a:endParaRPr lang="en-US" altLang="ja-JP" sz="3600" b="1" dirty="0"/>
          </a:p>
          <a:p>
            <a:r>
              <a:rPr lang="ja-JP" altLang="en-US" dirty="0"/>
              <a:t>　ー　最後まで諦めずやり切る能力</a:t>
            </a:r>
            <a:endParaRPr lang="en-US" altLang="ja-JP" dirty="0"/>
          </a:p>
          <a:p>
            <a:r>
              <a:rPr lang="ja-JP" altLang="en-US" dirty="0"/>
              <a:t>　ー　つーか、根性</a:t>
            </a:r>
            <a:endParaRPr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B6E2DB9-94BD-2DBA-316E-14AC9272E19F}"/>
              </a:ext>
            </a:extLst>
          </p:cNvPr>
          <p:cNvSpPr txBox="1"/>
          <p:nvPr/>
        </p:nvSpPr>
        <p:spPr>
          <a:xfrm>
            <a:off x="6609347" y="1443841"/>
            <a:ext cx="5416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これらを最低限身につける</a:t>
            </a:r>
            <a:endParaRPr kumimoji="1" lang="en-US" altLang="ja-JP" sz="2400" dirty="0"/>
          </a:p>
          <a:p>
            <a:r>
              <a:rPr lang="ja-JP" altLang="en-US" sz="2400" dirty="0"/>
              <a:t>　　　　　　　　</a:t>
            </a:r>
            <a:r>
              <a:rPr kumimoji="1" lang="ja-JP" altLang="en-US" sz="2400" dirty="0"/>
              <a:t>必勝法があります！</a:t>
            </a:r>
            <a:endParaRPr kumimoji="1" lang="en-US" altLang="ja-JP" sz="2400" dirty="0"/>
          </a:p>
          <a:p>
            <a:r>
              <a:rPr lang="ja-JP" altLang="en-US" sz="2400" dirty="0"/>
              <a:t>それが、</a:t>
            </a:r>
            <a:endParaRPr kumimoji="1" lang="ja-JP" altLang="en-US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44D6C8-70D6-4A9C-0724-6CD0383AC0D0}"/>
              </a:ext>
            </a:extLst>
          </p:cNvPr>
          <p:cNvSpPr txBox="1"/>
          <p:nvPr/>
        </p:nvSpPr>
        <p:spPr>
          <a:xfrm>
            <a:off x="6638260" y="3568226"/>
            <a:ext cx="5432898" cy="92333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5400" b="1" dirty="0" err="1"/>
              <a:t>UnityOneWeek</a:t>
            </a:r>
            <a:r>
              <a:rPr kumimoji="1" lang="en-US" altLang="ja-JP" sz="5400" b="1" dirty="0"/>
              <a:t>!</a:t>
            </a:r>
            <a:endParaRPr kumimoji="1" lang="ja-JP" alt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829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721A-8458-43B4-C458-2FB52059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3F4F8-FA4F-461C-2417-3DDD4B9D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200" b="1" dirty="0" err="1"/>
              <a:t>UnityOneWeek</a:t>
            </a:r>
            <a:r>
              <a:rPr kumimoji="1" lang="ja-JP" altLang="en-US" sz="3200" b="1" dirty="0"/>
              <a:t>とは？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99EB102-81CA-2C41-0E2F-23D9B20B0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6D0DC1-7696-833C-A84E-CB89BCC9A123}"/>
              </a:ext>
            </a:extLst>
          </p:cNvPr>
          <p:cNvSpPr txBox="1"/>
          <p:nvPr/>
        </p:nvSpPr>
        <p:spPr>
          <a:xfrm>
            <a:off x="874057" y="1520890"/>
            <a:ext cx="10443885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4000" dirty="0"/>
              <a:t>1</a:t>
            </a:r>
            <a:r>
              <a:rPr kumimoji="1" lang="ja-JP" altLang="en-US" sz="4000" dirty="0"/>
              <a:t>週間で</a:t>
            </a:r>
            <a:r>
              <a:rPr kumimoji="1" lang="en-US" altLang="ja-JP" sz="4000" dirty="0"/>
              <a:t>Unity</a:t>
            </a:r>
            <a:r>
              <a:rPr lang="ja-JP" altLang="en-US" sz="4000" dirty="0"/>
              <a:t>を</a:t>
            </a:r>
            <a:endParaRPr lang="en-US" altLang="ja-JP" sz="4000" dirty="0"/>
          </a:p>
          <a:p>
            <a:r>
              <a:rPr lang="ja-JP" altLang="en-US" sz="4000" dirty="0"/>
              <a:t>　　　　</a:t>
            </a:r>
            <a:r>
              <a:rPr lang="ja-JP" altLang="en-US" sz="4000" b="1" dirty="0"/>
              <a:t>一通り使えるようになりましょう！</a:t>
            </a:r>
            <a:endParaRPr kumimoji="1" lang="en-US" altLang="ja-JP" sz="40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32AE61-FF85-A69C-64E7-2E4C3E76BFE3}"/>
              </a:ext>
            </a:extLst>
          </p:cNvPr>
          <p:cNvSpPr txBox="1"/>
          <p:nvPr/>
        </p:nvSpPr>
        <p:spPr>
          <a:xfrm>
            <a:off x="1438314" y="4013672"/>
            <a:ext cx="98796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本来なら３</a:t>
            </a:r>
            <a:r>
              <a:rPr kumimoji="1" lang="en-US" altLang="ja-JP" sz="3600" dirty="0"/>
              <a:t>D</a:t>
            </a:r>
            <a:r>
              <a:rPr kumimoji="1" lang="ja-JP" altLang="en-US" sz="3600" dirty="0"/>
              <a:t>まで一気にやりますが、</a:t>
            </a:r>
            <a:endParaRPr kumimoji="1" lang="en-US" altLang="ja-JP" sz="3600" dirty="0"/>
          </a:p>
          <a:p>
            <a:r>
              <a:rPr lang="ja-JP" altLang="en-US" sz="3600" dirty="0"/>
              <a:t>　今回は２</a:t>
            </a:r>
            <a:r>
              <a:rPr lang="en-US" altLang="ja-JP" sz="3600" dirty="0"/>
              <a:t>D</a:t>
            </a:r>
            <a:r>
              <a:rPr lang="ja-JP" altLang="en-US" sz="3600" dirty="0"/>
              <a:t>までをやり切って最後に</a:t>
            </a:r>
            <a:endParaRPr lang="en-US" altLang="ja-JP" sz="3600" dirty="0"/>
          </a:p>
          <a:p>
            <a:r>
              <a:rPr lang="ja-JP" altLang="en-US" sz="3600" dirty="0"/>
              <a:t>　　</a:t>
            </a:r>
            <a:r>
              <a:rPr lang="en-US" altLang="ja-JP" sz="3600" b="1" dirty="0"/>
              <a:t>『</a:t>
            </a:r>
            <a:r>
              <a:rPr lang="ja-JP" altLang="en-US" sz="3600" b="1" dirty="0"/>
              <a:t>オリジナルゲーム</a:t>
            </a:r>
            <a:r>
              <a:rPr lang="en-US" altLang="ja-JP" sz="3600" b="1" dirty="0"/>
              <a:t>』</a:t>
            </a:r>
            <a:r>
              <a:rPr lang="ja-JP" altLang="en-US" sz="3600" dirty="0"/>
              <a:t>を作って貰います！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80788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AB030-BF07-3EE3-C7D3-1AA553E10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C484F-49CC-3F63-D2F2-97C83B7C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やり方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053E3EC-B74A-AB97-C8F0-DFA55CBE2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図 6" descr="男, 女性, 立つ, 持つ が含まれている画像&#10;&#10;自動的に生成された説明">
            <a:extLst>
              <a:ext uri="{FF2B5EF4-FFF2-40B4-BE49-F238E27FC236}">
                <a16:creationId xmlns:a16="http://schemas.microsoft.com/office/drawing/2014/main" id="{3E8C0090-FE53-447D-482E-638403D76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8" y="1291989"/>
            <a:ext cx="4542746" cy="4239897"/>
          </a:xfrm>
          <a:prstGeom prst="rect">
            <a:avLst/>
          </a:prstGeom>
        </p:spPr>
      </p:pic>
      <p:sp>
        <p:nvSpPr>
          <p:cNvPr id="8" name="乗算記号 7">
            <a:extLst>
              <a:ext uri="{FF2B5EF4-FFF2-40B4-BE49-F238E27FC236}">
                <a16:creationId xmlns:a16="http://schemas.microsoft.com/office/drawing/2014/main" id="{304E7F3F-ACD5-DEC4-24A2-178228AA722F}"/>
              </a:ext>
            </a:extLst>
          </p:cNvPr>
          <p:cNvSpPr/>
          <p:nvPr/>
        </p:nvSpPr>
        <p:spPr>
          <a:xfrm>
            <a:off x="1370044" y="1133668"/>
            <a:ext cx="2416629" cy="2015414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 descr="白いバックグラウンドの前に座っている人形&#10;&#10;低い精度で自動的に生成された説明">
            <a:extLst>
              <a:ext uri="{FF2B5EF4-FFF2-40B4-BE49-F238E27FC236}">
                <a16:creationId xmlns:a16="http://schemas.microsoft.com/office/drawing/2014/main" id="{521C0B14-5396-E7B7-1B3B-5C061BE00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35" y="1445360"/>
            <a:ext cx="3933154" cy="3933154"/>
          </a:xfrm>
          <a:prstGeom prst="rect">
            <a:avLst/>
          </a:prstGeom>
        </p:spPr>
      </p:pic>
      <p:sp>
        <p:nvSpPr>
          <p:cNvPr id="13" name="円: 塗りつぶしなし 12">
            <a:extLst>
              <a:ext uri="{FF2B5EF4-FFF2-40B4-BE49-F238E27FC236}">
                <a16:creationId xmlns:a16="http://schemas.microsoft.com/office/drawing/2014/main" id="{356D447D-41A3-D3C1-A51F-E3A66601F00F}"/>
              </a:ext>
            </a:extLst>
          </p:cNvPr>
          <p:cNvSpPr/>
          <p:nvPr/>
        </p:nvSpPr>
        <p:spPr>
          <a:xfrm>
            <a:off x="8257591" y="677053"/>
            <a:ext cx="1578333" cy="1604865"/>
          </a:xfrm>
          <a:prstGeom prst="donu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ED7659-9B65-EEFD-1C9C-FBE366D319B8}"/>
              </a:ext>
            </a:extLst>
          </p:cNvPr>
          <p:cNvSpPr txBox="1"/>
          <p:nvPr/>
        </p:nvSpPr>
        <p:spPr>
          <a:xfrm>
            <a:off x="1299742" y="5531886"/>
            <a:ext cx="80842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授業ではなく、能動的に教科書を進めてもらい、</a:t>
            </a:r>
            <a:endParaRPr kumimoji="1" lang="en-US" altLang="ja-JP" sz="2800" dirty="0"/>
          </a:p>
          <a:p>
            <a:r>
              <a:rPr lang="en-US" altLang="ja-JP" sz="2800" b="1" dirty="0">
                <a:solidFill>
                  <a:srgbClr val="FF0000"/>
                </a:solidFill>
              </a:rPr>
              <a:t>『</a:t>
            </a:r>
            <a:r>
              <a:rPr lang="ja-JP" altLang="en-US" sz="2800" b="1" dirty="0">
                <a:solidFill>
                  <a:srgbClr val="FF0000"/>
                </a:solidFill>
              </a:rPr>
              <a:t>質問にいつでも答える</a:t>
            </a:r>
            <a:r>
              <a:rPr lang="en-US" altLang="ja-JP" sz="2800" b="1" dirty="0">
                <a:solidFill>
                  <a:srgbClr val="FF0000"/>
                </a:solidFill>
              </a:rPr>
              <a:t>』</a:t>
            </a:r>
            <a:r>
              <a:rPr lang="ja-JP" altLang="en-US" sz="2800" dirty="0"/>
              <a:t>というスタイルです。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923943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D834-762F-66BF-A567-0A9CD0AFC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1CCBC1-0AAE-CD02-649D-206A14080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200" b="1" dirty="0"/>
              <a:t>質問は自らの言葉で具体的に！</a:t>
            </a:r>
            <a:endParaRPr kumimoji="1" lang="ja-JP" altLang="en-US" sz="3200" b="1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6501E5A-2DDC-2632-08C5-895CDEF7A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図 3" descr="おもちゃ, 人形, レゴ が含まれている画像&#10;&#10;自動的に生成された説明">
            <a:extLst>
              <a:ext uri="{FF2B5EF4-FFF2-40B4-BE49-F238E27FC236}">
                <a16:creationId xmlns:a16="http://schemas.microsoft.com/office/drawing/2014/main" id="{800530F3-3AE4-2FBC-B231-6D5E8EE82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46" y="1971942"/>
            <a:ext cx="4286250" cy="356235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DC862F-2E5B-95AA-ED02-ABAD28D0F401}"/>
              </a:ext>
            </a:extLst>
          </p:cNvPr>
          <p:cNvSpPr txBox="1"/>
          <p:nvPr/>
        </p:nvSpPr>
        <p:spPr>
          <a:xfrm>
            <a:off x="462651" y="118615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察してあげなくても分かる質問の仕方を心懸けよう！</a:t>
            </a:r>
          </a:p>
        </p:txBody>
      </p:sp>
      <p:pic>
        <p:nvPicPr>
          <p:cNvPr id="11" name="図 10" descr="人形, おもちゃ, 挿絵, 時計 が含まれている画像&#10;&#10;自動的に生成された説明">
            <a:extLst>
              <a:ext uri="{FF2B5EF4-FFF2-40B4-BE49-F238E27FC236}">
                <a16:creationId xmlns:a16="http://schemas.microsoft.com/office/drawing/2014/main" id="{1B1FFF7B-3576-0AF8-C438-3F96BE91C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509" y="1855686"/>
            <a:ext cx="4128930" cy="412893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A154BC0-A3DE-41F3-2456-216D974280C5}"/>
              </a:ext>
            </a:extLst>
          </p:cNvPr>
          <p:cNvSpPr txBox="1"/>
          <p:nvPr/>
        </p:nvSpPr>
        <p:spPr>
          <a:xfrm>
            <a:off x="6468158" y="571093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教員が空いてないなら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友人</a:t>
            </a:r>
            <a:r>
              <a:rPr kumimoji="1" lang="ja-JP" altLang="en-US" sz="2400" dirty="0"/>
              <a:t>に聞こう！</a:t>
            </a:r>
            <a:endParaRPr kumimoji="1"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E48BE3-1ACA-FFAA-72EC-DD13FEFADF3C}"/>
              </a:ext>
            </a:extLst>
          </p:cNvPr>
          <p:cNvSpPr txBox="1"/>
          <p:nvPr/>
        </p:nvSpPr>
        <p:spPr>
          <a:xfrm>
            <a:off x="5884849" y="6212388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ここでの友人とは仲良く遊ぶ友達のことではありません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70769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4D52-6F84-952E-0475-AF878920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373F7-048E-93B6-5A1D-C3D874DCF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スケジュール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9318033-A1E4-7B45-A6FC-771A0DFF9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74D169-7673-4F10-3AFE-FD316A7D39DF}"/>
              </a:ext>
            </a:extLst>
          </p:cNvPr>
          <p:cNvSpPr txBox="1"/>
          <p:nvPr/>
        </p:nvSpPr>
        <p:spPr>
          <a:xfrm>
            <a:off x="1035159" y="1613118"/>
            <a:ext cx="10121682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500" b="1" dirty="0">
                <a:solidFill>
                  <a:srgbClr val="FF0000"/>
                </a:solidFill>
              </a:rPr>
              <a:t>3</a:t>
            </a:r>
            <a:r>
              <a:rPr lang="ja-JP" altLang="en-US" sz="11500" b="1" dirty="0">
                <a:solidFill>
                  <a:srgbClr val="FF0000"/>
                </a:solidFill>
              </a:rPr>
              <a:t>日</a:t>
            </a:r>
            <a:r>
              <a:rPr lang="ja-JP" altLang="en-US" sz="5400" dirty="0"/>
              <a:t>で教科書制覇</a:t>
            </a:r>
            <a:r>
              <a:rPr lang="en-US" altLang="ja-JP" sz="5400" dirty="0"/>
              <a:t>(2D</a:t>
            </a:r>
            <a:r>
              <a:rPr lang="ja-JP" altLang="en-US" sz="5400" dirty="0"/>
              <a:t>のみ</a:t>
            </a:r>
            <a:r>
              <a:rPr lang="en-US" altLang="ja-JP" sz="5400" dirty="0"/>
              <a:t>)</a:t>
            </a:r>
          </a:p>
          <a:p>
            <a:r>
              <a:rPr lang="en-US" altLang="ja-JP" sz="11500" b="1" dirty="0">
                <a:solidFill>
                  <a:srgbClr val="FF0000"/>
                </a:solidFill>
              </a:rPr>
              <a:t>2</a:t>
            </a:r>
            <a:r>
              <a:rPr lang="ja-JP" altLang="en-US" sz="11500" b="1" dirty="0">
                <a:solidFill>
                  <a:srgbClr val="FF0000"/>
                </a:solidFill>
              </a:rPr>
              <a:t>日</a:t>
            </a:r>
            <a:r>
              <a:rPr lang="ja-JP" altLang="en-US" sz="5400" dirty="0"/>
              <a:t>でオリジナルゲーム作成</a:t>
            </a:r>
            <a:endParaRPr kumimoji="1" lang="ja-JP" altLang="en-US" sz="54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FDCD48-C58B-76B5-5679-89279A01935A}"/>
              </a:ext>
            </a:extLst>
          </p:cNvPr>
          <p:cNvSpPr txBox="1"/>
          <p:nvPr/>
        </p:nvSpPr>
        <p:spPr>
          <a:xfrm>
            <a:off x="6141330" y="5534291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dirty="0"/>
              <a:t>最後には発表してもらいます！</a:t>
            </a:r>
          </a:p>
        </p:txBody>
      </p:sp>
    </p:spTree>
    <p:extLst>
      <p:ext uri="{BB962C8B-B14F-4D97-AF65-F5344CB8AC3E}">
        <p14:creationId xmlns:p14="http://schemas.microsoft.com/office/powerpoint/2010/main" val="3013200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37DF-AE5B-DDD0-8814-0CF76705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12AFEC-B8FA-6B66-DA35-56610982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200" b="1" dirty="0"/>
              <a:t>教材など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CADDB3E-8E1C-7ED8-CBB7-D52B0CAA1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579" y="129475"/>
            <a:ext cx="2540579" cy="5081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971971-9EC3-A5D2-617D-41DAC773AE17}"/>
              </a:ext>
            </a:extLst>
          </p:cNvPr>
          <p:cNvSpPr txBox="1"/>
          <p:nvPr/>
        </p:nvSpPr>
        <p:spPr>
          <a:xfrm>
            <a:off x="6096000" y="950284"/>
            <a:ext cx="54585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通称</a:t>
            </a:r>
            <a:endParaRPr kumimoji="1" lang="en-US" altLang="ja-JP" sz="3600" dirty="0"/>
          </a:p>
          <a:p>
            <a:r>
              <a:rPr lang="en-US" altLang="ja-JP" sz="3600" dirty="0"/>
              <a:t>『Unity</a:t>
            </a:r>
            <a:r>
              <a:rPr lang="ja-JP" altLang="en-US" sz="3600" dirty="0"/>
              <a:t>の教科書</a:t>
            </a:r>
            <a:r>
              <a:rPr lang="en-US" altLang="ja-JP" sz="3600" dirty="0"/>
              <a:t>』</a:t>
            </a:r>
            <a:r>
              <a:rPr lang="ja-JP" altLang="en-US" sz="3600" dirty="0"/>
              <a:t>です。</a:t>
            </a:r>
            <a:endParaRPr kumimoji="1" lang="ja-JP" altLang="en-US" sz="36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254D6B-66B3-1300-AE24-66DBE2DEC144}"/>
              </a:ext>
            </a:extLst>
          </p:cNvPr>
          <p:cNvSpPr txBox="1"/>
          <p:nvPr/>
        </p:nvSpPr>
        <p:spPr>
          <a:xfrm>
            <a:off x="6397320" y="2551837"/>
            <a:ext cx="4750018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Chapter1</a:t>
            </a:r>
          </a:p>
          <a:p>
            <a:r>
              <a:rPr lang="ja-JP" altLang="en-US" sz="3600" b="1" dirty="0"/>
              <a:t>　　　　～</a:t>
            </a:r>
            <a:endParaRPr lang="en-US" altLang="ja-JP" sz="3600" b="1" dirty="0"/>
          </a:p>
          <a:p>
            <a:r>
              <a:rPr kumimoji="1" lang="ja-JP" altLang="en-US" sz="3600" b="1" dirty="0"/>
              <a:t>　　　　　</a:t>
            </a:r>
            <a:r>
              <a:rPr kumimoji="1" lang="en-US" altLang="ja-JP" sz="3600" b="1" dirty="0"/>
              <a:t>Chapter</a:t>
            </a:r>
            <a:r>
              <a:rPr kumimoji="1" lang="ja-JP" altLang="en-US" sz="3600" b="1" dirty="0"/>
              <a:t>６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85F1B12-C474-6FA7-2808-9598C55B1845}"/>
              </a:ext>
            </a:extLst>
          </p:cNvPr>
          <p:cNvSpPr txBox="1"/>
          <p:nvPr/>
        </p:nvSpPr>
        <p:spPr>
          <a:xfrm>
            <a:off x="6096000" y="4707387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b="1" dirty="0">
                <a:solidFill>
                  <a:srgbClr val="FF0000"/>
                </a:solidFill>
              </a:rPr>
              <a:t>さぁ、</a:t>
            </a:r>
            <a:endParaRPr kumimoji="1" lang="en-US" altLang="ja-JP" sz="3600" b="1" dirty="0">
              <a:solidFill>
                <a:srgbClr val="FF0000"/>
              </a:solidFill>
            </a:endParaRPr>
          </a:p>
          <a:p>
            <a:r>
              <a:rPr lang="ja-JP" altLang="en-US" sz="3600" b="1" dirty="0">
                <a:solidFill>
                  <a:srgbClr val="FF0000"/>
                </a:solidFill>
              </a:rPr>
              <a:t>張り切って学びましょう！</a:t>
            </a:r>
            <a:endParaRPr kumimoji="1" lang="ja-JP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9277B7A-8A2C-405F-1FC8-DA9525DD5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70" y="950284"/>
            <a:ext cx="4517404" cy="575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4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</TotalTime>
  <Words>929</Words>
  <Application>Microsoft Office PowerPoint</Application>
  <PresentationFormat>ワイド画面</PresentationFormat>
  <Paragraphs>136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Avenir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Unityはすべて３D空間　ー１－</vt:lpstr>
      <vt:lpstr>Unityはすべて３D空間　ー2－</vt:lpstr>
      <vt:lpstr>Unityはすべて３D空間　ー３－</vt:lpstr>
      <vt:lpstr>Sceneを繋いでゲームを作る</vt:lpstr>
      <vt:lpstr>Sceneはオブジェクトを組み合わせて作る</vt:lpstr>
      <vt:lpstr>オブジェクトは複数のスクリプトで成り立つ</vt:lpstr>
      <vt:lpstr>まとめ</vt:lpstr>
      <vt:lpstr>PowerPoint プレゼンテーション</vt:lpstr>
      <vt:lpstr>Unityの画面構成１</vt:lpstr>
      <vt:lpstr>Unityの画面構成２</vt:lpstr>
      <vt:lpstr>Unityの画面構成３</vt:lpstr>
      <vt:lpstr>PowerPoint プレゼンテーション</vt:lpstr>
      <vt:lpstr>UnityはC#で動かす</vt:lpstr>
      <vt:lpstr>C#ってなんだろ？</vt:lpstr>
      <vt:lpstr>具体的にどう使うか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ゲームを勉強する為には以下の能力が必須です！</vt:lpstr>
      <vt:lpstr>UnityOneWeekとは？</vt:lpstr>
      <vt:lpstr>やり方</vt:lpstr>
      <vt:lpstr>質問は自らの言葉で具体的に！</vt:lpstr>
      <vt:lpstr>スケジュール</vt:lpstr>
      <vt:lpstr>教材など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Mahiro</dc:creator>
  <cp:lastModifiedBy>内藤 真広</cp:lastModifiedBy>
  <cp:revision>101</cp:revision>
  <dcterms:created xsi:type="dcterms:W3CDTF">2021-04-24T06:43:32Z</dcterms:created>
  <dcterms:modified xsi:type="dcterms:W3CDTF">2026-04-10T12:15:32Z</dcterms:modified>
</cp:coreProperties>
</file>