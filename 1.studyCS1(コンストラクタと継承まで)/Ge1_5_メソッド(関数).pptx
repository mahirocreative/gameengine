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93" r:id="rId2"/>
    <p:sldId id="282" r:id="rId3"/>
    <p:sldId id="272" r:id="rId4"/>
    <p:sldId id="273" r:id="rId5"/>
    <p:sldId id="274" r:id="rId6"/>
    <p:sldId id="275" r:id="rId7"/>
    <p:sldId id="303" r:id="rId8"/>
    <p:sldId id="283" r:id="rId9"/>
    <p:sldId id="309" r:id="rId10"/>
    <p:sldId id="277" r:id="rId11"/>
    <p:sldId id="308" r:id="rId12"/>
    <p:sldId id="28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iro" initials="M" lastIdx="4" clrIdx="0">
    <p:extLst>
      <p:ext uri="{19B8F6BF-5375-455C-9EA6-DF929625EA0E}">
        <p15:presenceInfo xmlns:p15="http://schemas.microsoft.com/office/powerpoint/2012/main" userId="Mahi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7C1CA-D5D3-4FB8-8499-BBEEE790A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0F4B64-E70E-48BA-B029-6027B5073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E8F95-B3BD-42FF-8E1A-F984F690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80ED3-0D49-4E8D-AD25-390C32D9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4B189-BF66-4BD1-B519-A01A4276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ED20A-AF9D-4767-BE61-6C81A8BF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52E446-367E-430F-A5A2-861101F7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FA6E67-A949-4C9A-AD3A-9D4356EA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79008-0EFE-463C-816B-187CE13D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733B2-C997-464A-AC85-8DD3B61C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39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9F4ED-ED19-4136-8B29-27AE1A0D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53BC24-4DA9-47D3-88E2-CE17FD89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6F19E-33C2-4F8A-8492-16FBB00D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57FA9-D746-4AC7-8240-F74044AB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7031C-A038-43C1-8525-8CC932C9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47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0554F-68D4-43DB-A24D-B44D80D1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40037-4EB3-47E0-8DA6-4CCD5F9B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6B3E1B-C91A-40CD-A46A-DF6FC5863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75C98F-C814-406B-BF6A-D365B9C0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626D4-A6E4-4253-BF2C-B1A051C4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C5636-03AF-451D-9C7D-5B129593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85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30359-FE23-4AD2-970F-E67E4712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935A38-74FE-413A-B549-4C411C61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D75AF5-0146-4CE7-AA04-8357521C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C3321-2B89-4930-ACA7-B7B978611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82313A-761B-4812-8FC1-E0BB334E0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E8A646-D43B-4FDB-98F5-5A99F6A2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283184-C56F-4942-A315-8DF233FD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294970-7D7B-4679-B8EE-5FE4EF7F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98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F00CB-ADA3-4AA7-AD5E-98274DC3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9E24FC-F8CF-4AE2-992B-4B1A4E3D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8C6E3B-D6E7-454F-BB13-EB54107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6628D-61F9-4EB0-AB0D-34308793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0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4316B5-9424-4C56-89A0-C30BF107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D6D299-3EA4-4C3C-8471-CE7D37AD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A8669C-1800-40F8-9F5D-D347F7CC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875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5F07A-F16D-4644-8778-D4F287CF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13F0E-81C2-43B8-8947-F6D026C4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012C1-B2AC-413B-AED3-478A23A91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59ABD-552D-42F9-BA51-3C35215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837D58-6B3F-493A-AFA6-B2DB3C9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5126A-F180-4FB5-B700-93BEA98E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03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D4FB3-DFFF-49F7-ACA5-1DC37D00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2B7F25-A68B-417E-8DC1-DE231D2C8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28C97E-0B7D-4CA9-957C-B97CA814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5C9EF9-A2B9-4AC7-BA87-873DFAF8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FBDE5D-A0F8-4911-8F84-947B0090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ADED2D-338B-4ADC-AAFC-34EFA264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06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8C08F-0520-4451-A5DF-ABA35D3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40F3E6-294A-4C8D-AD13-067EEFC3F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145A9-B192-40BE-8879-4DE8B735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3EA29-EB8A-4958-9A98-57C26029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94B557-1E60-4E04-8728-0BD9F27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2302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FC7FF6-CC80-4819-BF99-73641160F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E09B85-8BA2-4E65-AF9E-4EB42511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AFBD33-3BCF-45B3-8BD7-1327764D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CCFEB-22EA-402A-AA4A-37D71D0D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2432C-DF2F-4C1A-A953-50D6E92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8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4E8BC-071B-43D5-A6E5-CA228A71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2AA049-8FCE-4DAD-8B42-F01FCBFE8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EEC91-684F-4228-9B3A-802C298A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E08CE-871E-42A1-882B-8194E9FA60B7}" type="datetimeFigureOut">
              <a:rPr kumimoji="1" lang="ja-JP" altLang="en-US" smtClean="0"/>
              <a:t>2025/6/23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6E8A7-3007-4E2A-8E72-0880D89C7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DF9E5-5D02-4855-8D59-5B771D708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694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64E6AC-D48D-4C9B-8055-9A855D31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84" y="355542"/>
            <a:ext cx="7543158" cy="4510855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8695" y="4269307"/>
            <a:ext cx="6014610" cy="597090"/>
          </a:xfrm>
        </p:spPr>
        <p:txBody>
          <a:bodyPr>
            <a:normAutofit/>
          </a:bodyPr>
          <a:lstStyle/>
          <a:p>
            <a:r>
              <a:rPr kumimoji="1" lang="en-US" altLang="ja-JP" sz="3200" dirty="0"/>
              <a:t>5.C#_</a:t>
            </a:r>
            <a:r>
              <a:rPr kumimoji="1" lang="ja-JP" altLang="en-US" sz="3200" dirty="0"/>
              <a:t>メソッド</a:t>
            </a:r>
            <a:r>
              <a:rPr kumimoji="1" lang="en-US" altLang="ja-JP" sz="3200" dirty="0"/>
              <a:t>(</a:t>
            </a:r>
            <a:r>
              <a:rPr kumimoji="1" lang="ja-JP" altLang="en-US" sz="3200" dirty="0"/>
              <a:t>関数</a:t>
            </a:r>
            <a:r>
              <a:rPr kumimoji="1" lang="en-US" altLang="ja-JP" sz="3200" dirty="0"/>
              <a:t>)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228572-3EBB-4FBE-A8C2-B241D57AE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197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76" y="1104036"/>
            <a:ext cx="5086823" cy="3285084"/>
          </a:xfrm>
        </p:spPr>
        <p:txBody>
          <a:bodyPr>
            <a:normAutofit/>
          </a:bodyPr>
          <a:lstStyle/>
          <a:p>
            <a:r>
              <a:rPr kumimoji="1" lang="ja-JP" altLang="en-US" sz="3200" b="1" u="sng" dirty="0"/>
              <a:t>本日のアジェンダ</a:t>
            </a:r>
            <a:endParaRPr kumimoji="1" lang="en-US" altLang="ja-JP" sz="3200" b="1" u="sng" dirty="0"/>
          </a:p>
          <a:p>
            <a:pPr marL="0" indent="0">
              <a:buNone/>
            </a:pPr>
            <a:r>
              <a:rPr lang="ja-JP" altLang="en-US" dirty="0"/>
              <a:t>・メソッド（関数）とは？</a:t>
            </a:r>
            <a:endParaRPr lang="en-US" altLang="ja-JP" sz="2800" dirty="0"/>
          </a:p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lang="ja-JP" altLang="en-US" dirty="0"/>
              <a:t>数学での関数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・プログラミングでの関数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/>
              <a:t>・</a:t>
            </a:r>
            <a:r>
              <a:rPr lang="en-US" altLang="ja-JP" dirty="0"/>
              <a:t>break</a:t>
            </a:r>
            <a:r>
              <a:rPr lang="ja-JP" altLang="en-US" dirty="0"/>
              <a:t>文</a:t>
            </a:r>
            <a:endParaRPr kumimoji="1"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アジェンダ（</a:t>
            </a:r>
            <a:r>
              <a:rPr lang="en-US" altLang="ja-JP" dirty="0">
                <a:solidFill>
                  <a:schemeClr val="tx1"/>
                </a:solidFill>
              </a:rPr>
              <a:t>agenda</a:t>
            </a:r>
            <a:r>
              <a:rPr lang="ja-JP" altLang="en-US" dirty="0">
                <a:solidFill>
                  <a:schemeClr val="tx1"/>
                </a:solidFill>
              </a:rPr>
              <a:t>：目次</a:t>
            </a:r>
            <a:r>
              <a:rPr lang="ja-JP" altLang="en-US" dirty="0"/>
              <a:t>）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5235F61D-3CF2-4C99-ACDE-D55779AA25AE}"/>
              </a:ext>
            </a:extLst>
          </p:cNvPr>
          <p:cNvSpPr txBox="1">
            <a:spLocks/>
          </p:cNvSpPr>
          <p:nvPr/>
        </p:nvSpPr>
        <p:spPr>
          <a:xfrm>
            <a:off x="6096000" y="1104035"/>
            <a:ext cx="4580586" cy="38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/>
              <a:t>・</a:t>
            </a:r>
            <a:r>
              <a:rPr lang="ja-JP" altLang="en-US" sz="3200" b="1" u="sng" dirty="0"/>
              <a:t>教科書の範囲</a:t>
            </a:r>
            <a:endParaRPr lang="en-US" altLang="ja-JP" sz="3200" b="1" u="sng" dirty="0"/>
          </a:p>
          <a:p>
            <a:pPr marL="0" indent="0">
              <a:buFont typeface="Wingdings 3" charset="2"/>
              <a:buNone/>
            </a:pPr>
            <a:r>
              <a:rPr lang="ja-JP" altLang="en-US" sz="2800" dirty="0"/>
              <a:t>かんたん</a:t>
            </a:r>
            <a:r>
              <a:rPr lang="en-US" altLang="ja-JP" sz="2800" dirty="0"/>
              <a:t>C#</a:t>
            </a:r>
            <a:r>
              <a:rPr lang="ja-JP" altLang="en-US" sz="2800" dirty="0"/>
              <a:t>：</a:t>
            </a:r>
            <a:r>
              <a:rPr lang="en-US" altLang="ja-JP" sz="2800" dirty="0"/>
              <a:t>251~286p</a:t>
            </a:r>
          </a:p>
          <a:p>
            <a:pPr marL="0" indent="0">
              <a:buFont typeface="Wingdings 3" charset="2"/>
              <a:buNone/>
            </a:pPr>
            <a:r>
              <a:rPr lang="en-US" altLang="ja-JP" sz="2800" dirty="0"/>
              <a:t>(※</a:t>
            </a:r>
            <a:r>
              <a:rPr lang="ja-JP" altLang="en-US" sz="2800" dirty="0"/>
              <a:t>参考程度に</a:t>
            </a:r>
            <a:r>
              <a:rPr lang="en-US" altLang="ja-JP" sz="2800" dirty="0"/>
              <a:t>)</a:t>
            </a:r>
            <a:endParaRPr lang="en-US" altLang="ja-JP" sz="3200" dirty="0"/>
          </a:p>
          <a:p>
            <a:endParaRPr lang="ja-JP" altLang="en-US" sz="3200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82FC0379-2BBE-499F-8F00-D674EDCEA91C}"/>
              </a:ext>
            </a:extLst>
          </p:cNvPr>
          <p:cNvSpPr txBox="1">
            <a:spLocks/>
          </p:cNvSpPr>
          <p:nvPr/>
        </p:nvSpPr>
        <p:spPr>
          <a:xfrm>
            <a:off x="399576" y="4670431"/>
            <a:ext cx="4713336" cy="2167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200" b="1" u="sng" dirty="0"/>
              <a:t>本日の演習</a:t>
            </a:r>
            <a:endParaRPr lang="en-US" altLang="ja-JP" sz="3200" b="1" u="sng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・演習１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・演習２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1319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60" y="1115325"/>
            <a:ext cx="8314783" cy="4461386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sz="3200" b="1" u="sng" dirty="0"/>
              <a:t>関数、覚えていますか？</a:t>
            </a: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数学にありましたよね、関数。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便利でしたよね、関数。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ja-JP" altLang="en-US" sz="2400" b="1" dirty="0"/>
              <a:t>プログラミングにも関数があります。</a:t>
            </a:r>
            <a:endParaRPr lang="en-US" altLang="ja-JP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0000"/>
                </a:solidFill>
              </a:rPr>
              <a:t>　</a:t>
            </a:r>
            <a:r>
              <a:rPr lang="ja-JP" altLang="en-US" sz="2400" dirty="0"/>
              <a:t>数学では敵だったという人もいると思いますが、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>
                <a:solidFill>
                  <a:srgbClr val="FF0000"/>
                </a:solidFill>
              </a:rPr>
              <a:t>　</a:t>
            </a:r>
            <a:r>
              <a:rPr lang="ja-JP" altLang="en-US" b="1" u="sng" dirty="0">
                <a:solidFill>
                  <a:srgbClr val="FF0000"/>
                </a:solidFill>
              </a:rPr>
              <a:t>プログラミングでは間違いなく強い味方です。</a:t>
            </a:r>
            <a:endParaRPr lang="en-US" altLang="ja-JP" b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0000"/>
                </a:solidFill>
              </a:rPr>
              <a:t>　</a:t>
            </a:r>
            <a:endParaRPr lang="en-US" altLang="ja-JP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0000"/>
                </a:solidFill>
              </a:rPr>
              <a:t>　</a:t>
            </a:r>
            <a:r>
              <a:rPr lang="en-US" altLang="ja-JP" sz="3200" b="1" dirty="0"/>
              <a:t>C#</a:t>
            </a:r>
            <a:r>
              <a:rPr lang="ja-JP" altLang="en-US" sz="3200" b="1" dirty="0"/>
              <a:t>での関数（メソッド）の</a:t>
            </a:r>
            <a:endParaRPr lang="en-US" altLang="ja-JP" sz="3200" b="1" dirty="0"/>
          </a:p>
          <a:p>
            <a:pPr marL="0" indent="0">
              <a:buNone/>
            </a:pPr>
            <a:r>
              <a:rPr lang="ja-JP" altLang="en-US" sz="3200" b="1" dirty="0"/>
              <a:t>　　　使い方、作り方を学んでいきましょう！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メソッド（関数）とは？</a:t>
            </a:r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CE02C9D-3FC1-48AB-AC41-87D2C9156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504" y="1505515"/>
            <a:ext cx="3253740" cy="89154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6F88838-D603-4C09-A2A3-EFA0CDF35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665" y="2954303"/>
            <a:ext cx="3660099" cy="1840933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220B79-D8B7-450C-BE0E-17F284E22ABA}"/>
              </a:ext>
            </a:extLst>
          </p:cNvPr>
          <p:cNvSpPr txBox="1"/>
          <p:nvPr/>
        </p:nvSpPr>
        <p:spPr>
          <a:xfrm>
            <a:off x="1241778" y="5392045"/>
            <a:ext cx="901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（</a:t>
            </a:r>
            <a:r>
              <a:rPr kumimoji="1" lang="en-US" altLang="ja-JP" dirty="0"/>
              <a:t>※</a:t>
            </a:r>
            <a:r>
              <a:rPr kumimoji="1" lang="ja-JP" altLang="en-US" dirty="0"/>
              <a:t>関数とメソッドは厳密には違いますが、</a:t>
            </a:r>
            <a:r>
              <a:rPr kumimoji="1" lang="en-US" altLang="ja-JP" dirty="0"/>
              <a:t>C#</a:t>
            </a:r>
            <a:r>
              <a:rPr kumimoji="1" lang="ja-JP" altLang="en-US" dirty="0"/>
              <a:t>ではほぼイコールと思って良いです）</a:t>
            </a:r>
          </a:p>
        </p:txBody>
      </p:sp>
    </p:spTree>
    <p:extLst>
      <p:ext uri="{BB962C8B-B14F-4D97-AF65-F5344CB8AC3E}">
        <p14:creationId xmlns:p14="http://schemas.microsoft.com/office/powerpoint/2010/main" val="2642214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まずは数学での関数のおさらい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63DBB5C-6869-4B27-A288-F1044E32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061" y="1036302"/>
            <a:ext cx="5910912" cy="1514987"/>
          </a:xfrm>
        </p:spPr>
        <p:txBody>
          <a:bodyPr>
            <a:normAutofit/>
          </a:bodyPr>
          <a:lstStyle/>
          <a:p>
            <a:r>
              <a:rPr lang="ja-JP" altLang="en-US" sz="3200" b="1" u="sng" dirty="0"/>
              <a:t>関数とは？</a:t>
            </a:r>
            <a:endParaRPr lang="en-US" altLang="ja-JP" sz="3200" b="1" u="sng" dirty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en-US" altLang="ja-JP" sz="2400" b="1" u="sng" dirty="0">
                <a:solidFill>
                  <a:srgbClr val="00B0F0"/>
                </a:solidFill>
              </a:rPr>
              <a:t>1</a:t>
            </a:r>
            <a:r>
              <a:rPr lang="ja-JP" altLang="en-US" sz="2400" b="1" u="sng" dirty="0">
                <a:solidFill>
                  <a:srgbClr val="00B0F0"/>
                </a:solidFill>
              </a:rPr>
              <a:t>つ以上</a:t>
            </a:r>
            <a:r>
              <a:rPr lang="ja-JP" altLang="en-US" sz="2400" dirty="0"/>
              <a:t>の入力に対して、</a:t>
            </a:r>
            <a:endParaRPr lang="en-US" altLang="ja-JP" sz="2400" dirty="0"/>
          </a:p>
          <a:p>
            <a:pPr marL="0" indent="0">
              <a:buNone/>
            </a:pPr>
            <a:r>
              <a:rPr kumimoji="1" lang="ja-JP" altLang="en-US" sz="2400" dirty="0"/>
              <a:t>　</a:t>
            </a:r>
            <a:r>
              <a:rPr kumimoji="1" lang="en-US" altLang="ja-JP" sz="2400" b="1" u="sng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u="sng" dirty="0">
                <a:solidFill>
                  <a:srgbClr val="FF0000"/>
                </a:solidFill>
              </a:rPr>
              <a:t>つ</a:t>
            </a:r>
            <a:r>
              <a:rPr kumimoji="1" lang="ja-JP" altLang="en-US" sz="2400" dirty="0"/>
              <a:t>の結果を得る機能（対応関係）です。</a:t>
            </a:r>
            <a:endParaRPr kumimoji="1" lang="en-US" altLang="ja-JP" sz="2400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58E4136C-205A-40F9-9178-99485B265E09}"/>
              </a:ext>
            </a:extLst>
          </p:cNvPr>
          <p:cNvSpPr txBox="1">
            <a:spLocks/>
          </p:cNvSpPr>
          <p:nvPr/>
        </p:nvSpPr>
        <p:spPr>
          <a:xfrm>
            <a:off x="6229612" y="936978"/>
            <a:ext cx="4580586" cy="38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/>
              <a:t>・</a:t>
            </a:r>
            <a:r>
              <a:rPr lang="ja-JP" altLang="en-US" sz="3200" b="1" u="sng" dirty="0"/>
              <a:t>数学での例</a:t>
            </a:r>
            <a:endParaRPr lang="en-US" altLang="ja-JP" sz="3200" b="1" u="sng" dirty="0"/>
          </a:p>
          <a:p>
            <a:pPr marL="0" indent="0">
              <a:buNone/>
            </a:pPr>
            <a:endParaRPr lang="en-US" altLang="ja-JP" sz="3200" dirty="0"/>
          </a:p>
          <a:p>
            <a:endParaRPr lang="ja-JP" altLang="en-US" sz="3200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2D240679-0938-4496-8172-5E7FDE103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64" y="1844596"/>
            <a:ext cx="5821305" cy="4365979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077BF02-929A-4D96-B0D1-C2F52DAFFD58}"/>
              </a:ext>
            </a:extLst>
          </p:cNvPr>
          <p:cNvSpPr txBox="1"/>
          <p:nvPr/>
        </p:nvSpPr>
        <p:spPr>
          <a:xfrm>
            <a:off x="715442" y="5452366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図は入力が１つですが、</a:t>
            </a:r>
            <a:r>
              <a:rPr lang="ja-JP" altLang="en-US" dirty="0"/>
              <a:t>入力は</a:t>
            </a:r>
            <a:r>
              <a:rPr lang="ja-JP" altLang="en-US" b="1" dirty="0"/>
              <a:t>１つ以上</a:t>
            </a:r>
            <a:r>
              <a:rPr lang="ja-JP" altLang="en-US" dirty="0"/>
              <a:t>です。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C92C5CB-CB75-47F2-B059-DF29B6A29A97}"/>
                  </a:ext>
                </a:extLst>
              </p:cNvPr>
              <p:cNvSpPr txBox="1"/>
              <p:nvPr/>
            </p:nvSpPr>
            <p:spPr>
              <a:xfrm>
                <a:off x="7263292" y="1844596"/>
                <a:ext cx="4553234" cy="1434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ja-JP" altLang="en-US" sz="3200" dirty="0"/>
                  <a:t>関数</a:t>
                </a:r>
                <a14:m>
                  <m:oMath xmlns:m="http://schemas.openxmlformats.org/officeDocument/2006/math">
                    <m:r>
                      <a:rPr lang="ja-JP" altLang="en-US" sz="3200" i="1">
                        <a:latin typeface="Cambria Math" panose="02040503050406030204" pitchFamily="18" charset="0"/>
                      </a:rPr>
                      <m:t>：</m:t>
                    </m:r>
                    <m:r>
                      <a:rPr kumimoji="1" lang="ja-JP" altLang="en-US" sz="32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ja-JP" altLang="en-US" sz="3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ja-JP" altLang="en-US" sz="32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ja-JP" altLang="en-US" sz="32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ja-JP" altLang="en-US" sz="3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kumimoji="1" lang="ja-JP" altLang="en-US" sz="32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ja-JP" altLang="en-US" sz="3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32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ja-JP" altLang="en-US" sz="3200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ja-JP" altLang="en-US" sz="32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ja-JP" altLang="en-US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ja-JP" altLang="en-US" sz="3200" i="0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ja-JP" altLang="en-US" sz="3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kumimoji="1" lang="en-US" altLang="ja-JP" sz="3200" dirty="0"/>
              </a:p>
              <a:p>
                <a:r>
                  <a:rPr lang="ja-JP" altLang="en-US" sz="2400" dirty="0"/>
                  <a:t>Ｘ：底辺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Ｙ：高さ</a:t>
                </a: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0C92C5CB-CB75-47F2-B059-DF29B6A29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292" y="1844596"/>
                <a:ext cx="4553234" cy="1434047"/>
              </a:xfrm>
              <a:prstGeom prst="rect">
                <a:avLst/>
              </a:prstGeom>
              <a:blipFill>
                <a:blip r:embed="rId4"/>
                <a:stretch>
                  <a:fillRect l="-5355" t="-1277" b="-119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005AD0E-F1A9-4B25-8F60-15EFA359C8CF}"/>
              </a:ext>
            </a:extLst>
          </p:cNvPr>
          <p:cNvSpPr txBox="1"/>
          <p:nvPr/>
        </p:nvSpPr>
        <p:spPr>
          <a:xfrm>
            <a:off x="7263292" y="3757557"/>
            <a:ext cx="4616648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>
            <a:spAutoFit/>
          </a:bodyPr>
          <a:lstStyle/>
          <a:p>
            <a:r>
              <a:rPr lang="ja-JP" altLang="en-US" sz="2400" dirty="0"/>
              <a:t>さて、</a:t>
            </a:r>
            <a:endParaRPr lang="en-US" altLang="ja-JP" sz="2400" dirty="0"/>
          </a:p>
          <a:p>
            <a:r>
              <a:rPr lang="ja-JP" altLang="en-US" sz="2400" dirty="0"/>
              <a:t>これは何を求める関数でしょう？</a:t>
            </a:r>
            <a:endParaRPr kumimoji="1" lang="ja-JP" altLang="en-US" sz="3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85C121B-785F-47B9-A405-267F7AE73CF6}"/>
              </a:ext>
            </a:extLst>
          </p:cNvPr>
          <p:cNvSpPr txBox="1"/>
          <p:nvPr/>
        </p:nvSpPr>
        <p:spPr>
          <a:xfrm>
            <a:off x="708690" y="4027585"/>
            <a:ext cx="64633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処理</a:t>
            </a:r>
          </a:p>
        </p:txBody>
      </p:sp>
    </p:spTree>
    <p:extLst>
      <p:ext uri="{BB962C8B-B14F-4D97-AF65-F5344CB8AC3E}">
        <p14:creationId xmlns:p14="http://schemas.microsoft.com/office/powerpoint/2010/main" val="417748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プログラミンでの関数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63DBB5C-6869-4B27-A288-F1044E32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07" y="1036304"/>
            <a:ext cx="6895660" cy="3754602"/>
          </a:xfrm>
        </p:spPr>
        <p:txBody>
          <a:bodyPr>
            <a:normAutofit/>
          </a:bodyPr>
          <a:lstStyle/>
          <a:p>
            <a:r>
              <a:rPr lang="ja-JP" altLang="en-US" sz="3200" b="1" u="sng" dirty="0"/>
              <a:t>プログラミングでの関数</a:t>
            </a:r>
            <a:endParaRPr lang="en-US" altLang="ja-JP" sz="3200" b="1" u="sng" dirty="0"/>
          </a:p>
          <a:p>
            <a:pPr marL="0" indent="0">
              <a:buNone/>
            </a:pPr>
            <a:r>
              <a:rPr lang="ja-JP" altLang="en-US" sz="2400" dirty="0"/>
              <a:t>　数学の関数との最大の違いは、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en-US" altLang="ja-JP" sz="2400" b="1" u="sng" dirty="0">
                <a:solidFill>
                  <a:srgbClr val="00B0F0"/>
                </a:solidFill>
              </a:rPr>
              <a:t>0</a:t>
            </a:r>
            <a:r>
              <a:rPr lang="ja-JP" altLang="en-US" sz="2400" b="1" u="sng" dirty="0">
                <a:solidFill>
                  <a:srgbClr val="00B0F0"/>
                </a:solidFill>
              </a:rPr>
              <a:t>個以上</a:t>
            </a:r>
            <a:r>
              <a:rPr lang="ja-JP" altLang="en-US" sz="2400" dirty="0"/>
              <a:t>の入力に対して、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en-US" altLang="ja-JP" sz="2400" b="1" u="sng" dirty="0">
                <a:solidFill>
                  <a:srgbClr val="FF0000"/>
                </a:solidFill>
              </a:rPr>
              <a:t>0~1</a:t>
            </a:r>
            <a:r>
              <a:rPr lang="ja-JP" altLang="en-US" sz="2400" b="1" u="sng" dirty="0">
                <a:solidFill>
                  <a:srgbClr val="FF0000"/>
                </a:solidFill>
              </a:rPr>
              <a:t>個</a:t>
            </a:r>
            <a:r>
              <a:rPr lang="ja-JP" altLang="en-US" sz="2400" dirty="0"/>
              <a:t>の結果を得るという点です。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000" dirty="0"/>
              <a:t>（</a:t>
            </a:r>
            <a:r>
              <a:rPr lang="en-US" altLang="ja-JP" sz="2000" dirty="0"/>
              <a:t>※</a:t>
            </a:r>
            <a:r>
              <a:rPr lang="ja-JP" altLang="en-US" sz="2000" dirty="0"/>
              <a:t>必ずしも入力や出力が必須ではありません）</a:t>
            </a:r>
            <a:endParaRPr lang="en-US" altLang="ja-JP" sz="2000" dirty="0"/>
          </a:p>
          <a:p>
            <a:pPr marL="0" indent="0">
              <a:buNone/>
            </a:pPr>
            <a:r>
              <a:rPr lang="ja-JP" altLang="en-US" sz="2400" dirty="0"/>
              <a:t>　</a:t>
            </a:r>
            <a:r>
              <a:rPr lang="ja-JP" altLang="en-US" sz="2000" dirty="0"/>
              <a:t>定義としては、</a:t>
            </a:r>
            <a:endParaRPr lang="en-US" altLang="ja-JP" sz="2400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58E4136C-205A-40F9-9178-99485B265E09}"/>
              </a:ext>
            </a:extLst>
          </p:cNvPr>
          <p:cNvSpPr txBox="1">
            <a:spLocks/>
          </p:cNvSpPr>
          <p:nvPr/>
        </p:nvSpPr>
        <p:spPr>
          <a:xfrm>
            <a:off x="6895379" y="973325"/>
            <a:ext cx="4580586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/>
              <a:t>・</a:t>
            </a:r>
            <a:r>
              <a:rPr lang="en-US" altLang="ja-JP" sz="3200" b="1" u="sng" dirty="0"/>
              <a:t>C</a:t>
            </a:r>
            <a:r>
              <a:rPr lang="ja-JP" altLang="en-US" sz="3200" b="1" u="sng" dirty="0"/>
              <a:t>＃での例</a:t>
            </a:r>
            <a:endParaRPr lang="en-US" altLang="ja-JP" sz="3200" b="1" u="sng" dirty="0"/>
          </a:p>
          <a:p>
            <a:pPr marL="0" indent="0">
              <a:buNone/>
            </a:pPr>
            <a:endParaRPr lang="en-US" altLang="ja-JP" sz="20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077BF02-929A-4D96-B0D1-C2F52DAFFD58}"/>
              </a:ext>
            </a:extLst>
          </p:cNvPr>
          <p:cNvSpPr txBox="1"/>
          <p:nvPr/>
        </p:nvSpPr>
        <p:spPr>
          <a:xfrm>
            <a:off x="276061" y="4083020"/>
            <a:ext cx="661931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ja-JP" altLang="en-US" sz="2000" b="1" dirty="0"/>
              <a:t>　与えられた値をもとに、</a:t>
            </a:r>
            <a:endParaRPr lang="en-US" altLang="ja-JP" sz="2000" b="1" dirty="0"/>
          </a:p>
          <a:p>
            <a:pPr marL="0" indent="0">
              <a:buNone/>
            </a:pPr>
            <a:r>
              <a:rPr lang="ja-JP" altLang="en-US" sz="2000" b="1" dirty="0"/>
              <a:t>　定められた独自の処理を実行し、その結果を返す命令</a:t>
            </a:r>
            <a:endParaRPr lang="en-US" altLang="ja-JP" sz="2000" b="1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09637F-FD60-4041-8ABB-E6BED52A25AC}"/>
              </a:ext>
            </a:extLst>
          </p:cNvPr>
          <p:cNvSpPr txBox="1"/>
          <p:nvPr/>
        </p:nvSpPr>
        <p:spPr>
          <a:xfrm>
            <a:off x="474133" y="487894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とあり、</a:t>
            </a:r>
            <a:endParaRPr kumimoji="1" lang="en-US" altLang="ja-JP" sz="2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EC6841-EE34-4F43-B3B5-BB30DAB43FF1}"/>
              </a:ext>
            </a:extLst>
          </p:cNvPr>
          <p:cNvSpPr txBox="1"/>
          <p:nvPr/>
        </p:nvSpPr>
        <p:spPr>
          <a:xfrm>
            <a:off x="1195780" y="5367090"/>
            <a:ext cx="4801314" cy="461665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ja-JP" altLang="en-US" sz="2400" b="1" dirty="0"/>
              <a:t>複数の命令を一つにまとめる機能</a:t>
            </a:r>
            <a:endParaRPr lang="en-US" altLang="ja-JP" sz="24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6A082E1-1D1B-498A-B8FB-11F5353D5E83}"/>
              </a:ext>
            </a:extLst>
          </p:cNvPr>
          <p:cNvSpPr txBox="1"/>
          <p:nvPr/>
        </p:nvSpPr>
        <p:spPr>
          <a:xfrm>
            <a:off x="3596437" y="6004829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と理解しましょう。</a:t>
            </a:r>
            <a:endParaRPr kumimoji="1" lang="en-US" altLang="ja-JP" sz="20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24713DB-30C0-475D-A88B-8281933D1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686" y="1791852"/>
            <a:ext cx="4027984" cy="59429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6FEB7E-23EC-4320-9235-D94ABEF32893}"/>
              </a:ext>
            </a:extLst>
          </p:cNvPr>
          <p:cNvSpPr txBox="1"/>
          <p:nvPr/>
        </p:nvSpPr>
        <p:spPr>
          <a:xfrm>
            <a:off x="7171721" y="2416731"/>
            <a:ext cx="49932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これまで幾度となく見てきたと思いますが、</a:t>
            </a:r>
            <a:endParaRPr lang="en-US" altLang="ja-JP" dirty="0"/>
          </a:p>
          <a:p>
            <a:r>
              <a:rPr kumimoji="1" lang="ja-JP" altLang="en-US" dirty="0"/>
              <a:t>これも関数です。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”</a:t>
            </a:r>
            <a:r>
              <a:rPr lang="en-US" altLang="ja-JP" dirty="0"/>
              <a:t>Hello</a:t>
            </a:r>
            <a:r>
              <a:rPr lang="ja-JP" altLang="en-US" dirty="0"/>
              <a:t> </a:t>
            </a:r>
            <a:r>
              <a:rPr lang="en-US" altLang="ja-JP" dirty="0"/>
              <a:t>, World!</a:t>
            </a:r>
            <a:r>
              <a:rPr lang="ja-JP" altLang="en-US" dirty="0"/>
              <a:t>”を入力し、</a:t>
            </a:r>
            <a:endParaRPr lang="en-US" altLang="ja-JP" dirty="0"/>
          </a:p>
          <a:p>
            <a:r>
              <a:rPr kumimoji="1" lang="ja-JP" altLang="en-US" dirty="0"/>
              <a:t>特に何の結果も受け取っていません。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ただし、処理の中に</a:t>
            </a:r>
            <a:endParaRPr kumimoji="1" lang="en-US" altLang="ja-JP" dirty="0"/>
          </a:p>
          <a:p>
            <a:r>
              <a:rPr kumimoji="1" lang="en-US" altLang="ja-JP" dirty="0"/>
              <a:t>『</a:t>
            </a:r>
            <a:r>
              <a:rPr kumimoji="1" lang="ja-JP" altLang="en-US" dirty="0"/>
              <a:t>コンソールに受け取った文字列を表示する</a:t>
            </a:r>
            <a:r>
              <a:rPr kumimoji="1" lang="en-US" altLang="ja-JP" dirty="0"/>
              <a:t>』</a:t>
            </a:r>
          </a:p>
          <a:p>
            <a:r>
              <a:rPr lang="ja-JP" altLang="en-US" dirty="0"/>
              <a:t>という命令が含まれており、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それが実行されてコンソールに</a:t>
            </a:r>
            <a:endParaRPr kumimoji="1" lang="en-US" altLang="ja-JP" dirty="0"/>
          </a:p>
          <a:p>
            <a:r>
              <a:rPr kumimoji="1" lang="en-US" altLang="ja-JP" dirty="0"/>
              <a:t>『</a:t>
            </a:r>
            <a:r>
              <a:rPr lang="en-US" altLang="ja-JP" dirty="0"/>
              <a:t> Hello</a:t>
            </a:r>
            <a:r>
              <a:rPr lang="ja-JP" altLang="en-US" dirty="0"/>
              <a:t> </a:t>
            </a:r>
            <a:r>
              <a:rPr lang="en-US" altLang="ja-JP" dirty="0"/>
              <a:t>, World! </a:t>
            </a:r>
            <a:r>
              <a:rPr kumimoji="1" lang="en-US" altLang="ja-JP" dirty="0"/>
              <a:t>』</a:t>
            </a:r>
            <a:r>
              <a:rPr kumimoji="1" lang="ja-JP" altLang="en-US" dirty="0"/>
              <a:t>が表示されています。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92607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C#</a:t>
            </a:r>
            <a:r>
              <a:rPr lang="ja-JP" altLang="en-US" dirty="0">
                <a:solidFill>
                  <a:schemeClr val="tx1"/>
                </a:solidFill>
              </a:rPr>
              <a:t>でのメソッド（関数）の文法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63DBB5C-6869-4B27-A288-F1044E32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07" y="1036304"/>
            <a:ext cx="6895660" cy="597421"/>
          </a:xfrm>
        </p:spPr>
        <p:txBody>
          <a:bodyPr>
            <a:normAutofit/>
          </a:bodyPr>
          <a:lstStyle/>
          <a:p>
            <a:r>
              <a:rPr lang="ja-JP" altLang="en-US" sz="3200" b="1" u="sng" dirty="0"/>
              <a:t>メソッドの基本構文</a:t>
            </a:r>
            <a:endParaRPr lang="en-US" altLang="ja-JP" sz="3200" b="1" u="sng" dirty="0"/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endParaRPr lang="en-US" altLang="ja-JP" sz="2000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58E4136C-205A-40F9-9178-99485B265E09}"/>
              </a:ext>
            </a:extLst>
          </p:cNvPr>
          <p:cNvSpPr txBox="1">
            <a:spLocks/>
          </p:cNvSpPr>
          <p:nvPr/>
        </p:nvSpPr>
        <p:spPr>
          <a:xfrm>
            <a:off x="6895379" y="973325"/>
            <a:ext cx="4580586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/>
              <a:t>・具体的な</a:t>
            </a:r>
            <a:r>
              <a:rPr lang="ja-JP" altLang="en-US" sz="3200" b="1" u="sng" dirty="0"/>
              <a:t>例</a:t>
            </a:r>
            <a:endParaRPr lang="en-US" altLang="ja-JP" sz="3200" b="1" u="sng" dirty="0"/>
          </a:p>
          <a:p>
            <a:pPr marL="0" indent="0">
              <a:buNone/>
            </a:pPr>
            <a:endParaRPr lang="en-US" altLang="ja-JP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71DE43-58DD-914A-C2C2-775E927E45AE}"/>
              </a:ext>
            </a:extLst>
          </p:cNvPr>
          <p:cNvSpPr txBox="1"/>
          <p:nvPr/>
        </p:nvSpPr>
        <p:spPr>
          <a:xfrm>
            <a:off x="773330" y="2083408"/>
            <a:ext cx="3877985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ja-JP" altLang="en-US" sz="1800" dirty="0"/>
              <a:t>　戻り値の型　メソッド名（引数）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1800" dirty="0"/>
              <a:t>｛</a:t>
            </a:r>
            <a:endParaRPr lang="en-US" altLang="ja-JP" sz="1800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sz="1800" dirty="0"/>
              <a:t>実行したい処理</a:t>
            </a:r>
            <a:endParaRPr lang="en-US" altLang="ja-JP" sz="1800" dirty="0"/>
          </a:p>
          <a:p>
            <a:pPr marL="0" indent="0">
              <a:buNone/>
            </a:pPr>
            <a:r>
              <a:rPr lang="en-US" altLang="ja-JP" dirty="0"/>
              <a:t>	return </a:t>
            </a:r>
            <a:r>
              <a:rPr lang="ja-JP" altLang="en-US" dirty="0"/>
              <a:t>戻り値</a:t>
            </a:r>
            <a:r>
              <a:rPr lang="en-US" altLang="ja-JP" dirty="0"/>
              <a:t>;</a:t>
            </a:r>
          </a:p>
          <a:p>
            <a:pPr marL="0" indent="0">
              <a:buNone/>
            </a:pPr>
            <a:r>
              <a:rPr lang="en-US" altLang="ja-JP" dirty="0"/>
              <a:t>   </a:t>
            </a:r>
            <a:r>
              <a:rPr lang="ja-JP" altLang="en-US" sz="1800" dirty="0"/>
              <a:t>｝</a:t>
            </a:r>
            <a:endParaRPr lang="en-US" altLang="ja-JP" sz="1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C2AEDA-36AF-DE36-970A-C6558EE5F01A}"/>
              </a:ext>
            </a:extLst>
          </p:cNvPr>
          <p:cNvSpPr txBox="1"/>
          <p:nvPr/>
        </p:nvSpPr>
        <p:spPr>
          <a:xfrm>
            <a:off x="773330" y="1721762"/>
            <a:ext cx="64633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定義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2E2162-62DD-3ACE-3ABB-7606C17EA11C}"/>
              </a:ext>
            </a:extLst>
          </p:cNvPr>
          <p:cNvSpPr txBox="1"/>
          <p:nvPr/>
        </p:nvSpPr>
        <p:spPr>
          <a:xfrm>
            <a:off x="773329" y="3733420"/>
            <a:ext cx="133882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実行の仕方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C2C688-62F7-2705-58A3-25B256DFE5FC}"/>
              </a:ext>
            </a:extLst>
          </p:cNvPr>
          <p:cNvSpPr txBox="1"/>
          <p:nvPr/>
        </p:nvSpPr>
        <p:spPr>
          <a:xfrm>
            <a:off x="773330" y="4075712"/>
            <a:ext cx="232788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ja-JP" altLang="en-US" sz="1800" dirty="0"/>
              <a:t>メソッド名（引数）</a:t>
            </a:r>
            <a:r>
              <a:rPr lang="en-US" altLang="ja-JP" sz="1800" dirty="0"/>
              <a:t>;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53211E3-4880-574D-50F6-874A69BC77D3}"/>
              </a:ext>
            </a:extLst>
          </p:cNvPr>
          <p:cNvSpPr txBox="1"/>
          <p:nvPr/>
        </p:nvSpPr>
        <p:spPr>
          <a:xfrm>
            <a:off x="773328" y="4942158"/>
            <a:ext cx="5703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プログラミングでは、</a:t>
            </a:r>
            <a:endParaRPr lang="en-US" altLang="ja-JP" sz="2000" dirty="0"/>
          </a:p>
          <a:p>
            <a:r>
              <a:rPr lang="ja-JP" altLang="en-US" sz="2000" dirty="0"/>
              <a:t>関数の</a:t>
            </a:r>
            <a:r>
              <a:rPr lang="ja-JP" altLang="en-US" sz="2000" b="1" dirty="0"/>
              <a:t>出力</a:t>
            </a:r>
            <a:r>
              <a:rPr lang="ja-JP" altLang="en-US" sz="2000" dirty="0"/>
              <a:t>の事を</a:t>
            </a:r>
            <a:r>
              <a:rPr lang="ja-JP" altLang="en-US" sz="2000" b="1" dirty="0">
                <a:solidFill>
                  <a:srgbClr val="FF0000"/>
                </a:solidFill>
              </a:rPr>
              <a:t>戻り値</a:t>
            </a:r>
            <a:r>
              <a:rPr lang="ja-JP" altLang="en-US" sz="2000" dirty="0"/>
              <a:t>と呼び</a:t>
            </a:r>
            <a:br>
              <a:rPr lang="en-US" altLang="ja-JP" sz="2000" dirty="0"/>
            </a:br>
            <a:r>
              <a:rPr lang="ja-JP" altLang="en-US" sz="2000" dirty="0"/>
              <a:t>関数の</a:t>
            </a:r>
            <a:r>
              <a:rPr lang="ja-JP" altLang="en-US" sz="2000" b="1" dirty="0"/>
              <a:t>入力</a:t>
            </a:r>
            <a:r>
              <a:rPr lang="ja-JP" altLang="en-US" sz="2000" dirty="0"/>
              <a:t>の事を</a:t>
            </a:r>
            <a:r>
              <a:rPr lang="ja-JP" altLang="en-US" sz="2000" b="1" dirty="0">
                <a:solidFill>
                  <a:srgbClr val="FF0000"/>
                </a:solidFill>
              </a:rPr>
              <a:t>引数</a:t>
            </a:r>
            <a:r>
              <a:rPr lang="ja-JP" altLang="en-US" sz="2000" dirty="0"/>
              <a:t>と呼びます。</a:t>
            </a:r>
            <a:endParaRPr lang="en-US" altLang="ja-JP" sz="2000" dirty="0"/>
          </a:p>
          <a:p>
            <a:r>
              <a:rPr lang="ja-JP" altLang="en-US" sz="2000" dirty="0"/>
              <a:t>戻り値がない場合、戻り値の型には</a:t>
            </a:r>
            <a:r>
              <a:rPr lang="en-US" altLang="ja-JP" sz="2000" b="1" dirty="0">
                <a:solidFill>
                  <a:srgbClr val="FF0000"/>
                </a:solidFill>
              </a:rPr>
              <a:t>void</a:t>
            </a:r>
          </a:p>
          <a:p>
            <a:r>
              <a:rPr kumimoji="1" lang="ja-JP" altLang="en-US" sz="2000" dirty="0"/>
              <a:t>引数がない場合、</a:t>
            </a:r>
            <a:r>
              <a:rPr kumimoji="1" lang="en-US" altLang="ja-JP" sz="2000" dirty="0"/>
              <a:t>()</a:t>
            </a:r>
            <a:r>
              <a:rPr kumimoji="1" lang="ja-JP" altLang="en-US" sz="2000" dirty="0"/>
              <a:t>には何も入力しない。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9BBBF8F-A95D-47E9-BDF6-D3FD4998B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379" y="1590443"/>
            <a:ext cx="4366391" cy="366291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7A3BB0A-216F-4FB6-AC5F-2DBDCDEE5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952" y="5396186"/>
            <a:ext cx="2783390" cy="11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318700" y="251860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メソッドの具体例１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0CA18CA-CDC4-433F-BE7F-E7EEF619E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00" y="1157598"/>
            <a:ext cx="4501494" cy="475180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sz="3200" b="1" u="sng" dirty="0" err="1"/>
              <a:t>n^m</a:t>
            </a:r>
            <a:r>
              <a:rPr lang="en-US" altLang="ja-JP" sz="3200" b="1" u="sng" dirty="0"/>
              <a:t> </a:t>
            </a:r>
            <a:r>
              <a:rPr lang="ja-JP" altLang="en-US" sz="3200" b="1" u="sng" dirty="0"/>
              <a:t>乗を計算する関数</a:t>
            </a:r>
            <a:endParaRPr kumimoji="1" lang="en-US" altLang="ja-JP" sz="3200" b="1" u="sng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3343BD7-1162-48D0-B679-90019CAED77C}"/>
              </a:ext>
            </a:extLst>
          </p:cNvPr>
          <p:cNvSpPr txBox="1"/>
          <p:nvPr/>
        </p:nvSpPr>
        <p:spPr>
          <a:xfrm>
            <a:off x="516449" y="1672878"/>
            <a:ext cx="25026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名前：</a:t>
            </a:r>
            <a:r>
              <a:rPr kumimoji="1" lang="en-US" altLang="ja-JP" sz="3200" dirty="0"/>
              <a:t>Pow</a:t>
            </a:r>
          </a:p>
          <a:p>
            <a:r>
              <a:rPr kumimoji="1" lang="ja-JP" altLang="en-US" sz="3200" dirty="0"/>
              <a:t>引数</a:t>
            </a:r>
            <a:r>
              <a:rPr lang="ja-JP" altLang="en-US" sz="3200" dirty="0"/>
              <a:t>：</a:t>
            </a:r>
            <a:r>
              <a:rPr lang="en-US" altLang="ja-JP" sz="3200" dirty="0" err="1"/>
              <a:t>int,int</a:t>
            </a:r>
            <a:endParaRPr kumimoji="1" lang="en-US" altLang="ja-JP" sz="3200" dirty="0"/>
          </a:p>
          <a:p>
            <a:r>
              <a:rPr kumimoji="1" lang="ja-JP" altLang="en-US" sz="3200" dirty="0"/>
              <a:t>戻り値：</a:t>
            </a:r>
            <a:r>
              <a:rPr kumimoji="1" lang="en-US" altLang="ja-JP" sz="3200" dirty="0"/>
              <a:t>int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02D5C0F-7FDE-413F-8742-B76AE18C3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187" y="1157598"/>
            <a:ext cx="7430813" cy="477115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675E6BE-D161-4120-A4ED-45EA5AC73E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21"/>
          <a:stretch/>
        </p:blipFill>
        <p:spPr>
          <a:xfrm>
            <a:off x="516449" y="4171036"/>
            <a:ext cx="3755105" cy="12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1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318700" y="251860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メソッドの具体例２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6FF3A1-9C8B-4ECC-A83F-02F5C9F4C7E9}"/>
              </a:ext>
            </a:extLst>
          </p:cNvPr>
          <p:cNvSpPr txBox="1"/>
          <p:nvPr/>
        </p:nvSpPr>
        <p:spPr>
          <a:xfrm>
            <a:off x="607888" y="1859340"/>
            <a:ext cx="29582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名前：</a:t>
            </a:r>
            <a:r>
              <a:rPr kumimoji="1" lang="en-US" altLang="ja-JP" sz="3200" dirty="0" err="1"/>
              <a:t>SumArr</a:t>
            </a:r>
            <a:endParaRPr kumimoji="1" lang="en-US" altLang="ja-JP" sz="3200" dirty="0"/>
          </a:p>
          <a:p>
            <a:r>
              <a:rPr kumimoji="1" lang="ja-JP" altLang="en-US" sz="3200" dirty="0"/>
              <a:t>引数</a:t>
            </a:r>
            <a:r>
              <a:rPr lang="ja-JP" altLang="en-US" sz="3200" dirty="0"/>
              <a:t>：</a:t>
            </a:r>
            <a:r>
              <a:rPr lang="en-US" altLang="ja-JP" sz="3200" dirty="0"/>
              <a:t>int[]</a:t>
            </a:r>
            <a:endParaRPr kumimoji="1" lang="en-US" altLang="ja-JP" sz="3200" dirty="0"/>
          </a:p>
          <a:p>
            <a:r>
              <a:rPr kumimoji="1" lang="ja-JP" altLang="en-US" sz="3200" dirty="0"/>
              <a:t>戻り値：</a:t>
            </a:r>
            <a:r>
              <a:rPr lang="en-US" altLang="ja-JP" sz="3200" dirty="0"/>
              <a:t>int</a:t>
            </a:r>
            <a:endParaRPr kumimoji="1" lang="ja-JP" altLang="en-US" sz="3200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7DE4967-562F-4332-B817-BE5E1221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99" y="1157598"/>
            <a:ext cx="5455083" cy="660400"/>
          </a:xfrm>
        </p:spPr>
        <p:txBody>
          <a:bodyPr>
            <a:normAutofit/>
          </a:bodyPr>
          <a:lstStyle/>
          <a:p>
            <a:r>
              <a:rPr lang="ja-JP" altLang="en-US" sz="3200" b="1" u="sng" dirty="0"/>
              <a:t>配列の合計を計算する関数</a:t>
            </a:r>
            <a:endParaRPr kumimoji="1" lang="en-US" altLang="ja-JP" sz="3200" b="1" u="sng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69C84B5-B93C-4D6D-82F1-DBF819110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872" y="912260"/>
            <a:ext cx="4968240" cy="589978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164181C-9FDA-47EF-814F-820B7FF7D5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51" y="4608929"/>
            <a:ext cx="4398169" cy="130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6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break</a:t>
            </a:r>
            <a:r>
              <a:rPr lang="ja-JP" altLang="en-US" dirty="0">
                <a:solidFill>
                  <a:schemeClr val="tx1"/>
                </a:solidFill>
              </a:rPr>
              <a:t>文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52245B-6E4C-4A55-8CFA-50750C401B54}"/>
              </a:ext>
            </a:extLst>
          </p:cNvPr>
          <p:cNvSpPr txBox="1"/>
          <p:nvPr/>
        </p:nvSpPr>
        <p:spPr>
          <a:xfrm>
            <a:off x="522514" y="1175657"/>
            <a:ext cx="557348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Switch</a:t>
            </a:r>
            <a:r>
              <a:rPr kumimoji="1" lang="ja-JP" altLang="en-US" sz="2400" dirty="0"/>
              <a:t>文でも習いましたが、</a:t>
            </a:r>
            <a:endParaRPr kumimoji="1" lang="en-US" altLang="ja-JP" sz="2400" dirty="0"/>
          </a:p>
          <a:p>
            <a:r>
              <a:rPr lang="en-US" altLang="ja-JP" sz="2400" dirty="0"/>
              <a:t>Break</a:t>
            </a:r>
            <a:r>
              <a:rPr lang="ja-JP" altLang="en-US" sz="2400" dirty="0"/>
              <a:t>文は単体でも使用できます</a:t>
            </a:r>
            <a:r>
              <a:rPr lang="ja-JP" altLang="en-US" sz="2800" dirty="0"/>
              <a:t>。</a:t>
            </a:r>
            <a:endParaRPr kumimoji="1" lang="ja-JP" altLang="en-US" sz="28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C2F21F9-4AED-4CB3-8879-99F9E33869EF}"/>
              </a:ext>
            </a:extLst>
          </p:cNvPr>
          <p:cNvSpPr txBox="1"/>
          <p:nvPr/>
        </p:nvSpPr>
        <p:spPr>
          <a:xfrm>
            <a:off x="522514" y="2244060"/>
            <a:ext cx="55734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単体だと、</a:t>
            </a:r>
            <a:endParaRPr kumimoji="1" lang="en-US" altLang="ja-JP" sz="2800" dirty="0"/>
          </a:p>
          <a:p>
            <a:r>
              <a:rPr lang="ja-JP" altLang="en-US" sz="3600" dirty="0"/>
              <a:t>　</a:t>
            </a:r>
            <a:r>
              <a:rPr lang="en-US" altLang="ja-JP" sz="3600" b="1" u="sng" dirty="0"/>
              <a:t>『</a:t>
            </a:r>
            <a:r>
              <a:rPr kumimoji="1" lang="ja-JP" altLang="en-US" sz="3600" b="1" u="sng" dirty="0"/>
              <a:t>ループから抜ける</a:t>
            </a:r>
            <a:r>
              <a:rPr lang="en-US" altLang="ja-JP" sz="3600" b="1" u="sng" dirty="0"/>
              <a:t>』</a:t>
            </a:r>
            <a:endParaRPr lang="en-US" altLang="ja-JP" sz="2800" b="1" u="sng" dirty="0"/>
          </a:p>
          <a:p>
            <a:r>
              <a:rPr kumimoji="1" lang="ja-JP" altLang="en-US" sz="2800" dirty="0"/>
              <a:t>という意味の命令になります。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C4285B2-0E97-48AB-BE98-1B83F975B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3913241"/>
            <a:ext cx="4376058" cy="2656892"/>
          </a:xfrm>
          <a:prstGeom prst="rect">
            <a:avLst/>
          </a:prstGeom>
        </p:spPr>
      </p:pic>
      <p:sp>
        <p:nvSpPr>
          <p:cNvPr id="7" name="楕円 6">
            <a:extLst>
              <a:ext uri="{FF2B5EF4-FFF2-40B4-BE49-F238E27FC236}">
                <a16:creationId xmlns:a16="http://schemas.microsoft.com/office/drawing/2014/main" id="{272E702F-9C88-4926-933B-82FF11E6DE00}"/>
              </a:ext>
            </a:extLst>
          </p:cNvPr>
          <p:cNvSpPr/>
          <p:nvPr/>
        </p:nvSpPr>
        <p:spPr>
          <a:xfrm>
            <a:off x="1815738" y="5120639"/>
            <a:ext cx="1776548" cy="5617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0069533-A2FF-4A53-985D-DAF053BACD3B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1071154" y="5682343"/>
            <a:ext cx="1632858" cy="8744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798A891-0CC3-4775-B511-452B517E6A88}"/>
              </a:ext>
            </a:extLst>
          </p:cNvPr>
          <p:cNvSpPr txBox="1"/>
          <p:nvPr/>
        </p:nvSpPr>
        <p:spPr>
          <a:xfrm>
            <a:off x="1839686" y="5843419"/>
            <a:ext cx="203132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ループの外に出る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7097BE94-0F80-4C94-84AD-C69AFBE18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097" y="702781"/>
            <a:ext cx="5838391" cy="3082557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A9EF686C-262F-4C86-A75B-698818E732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45" y="3389560"/>
            <a:ext cx="1705093" cy="330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8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演習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</a:p>
          <a:p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EEB4920B-F8BF-4243-78C0-787C8D04078E}"/>
              </a:ext>
            </a:extLst>
          </p:cNvPr>
          <p:cNvSpPr txBox="1">
            <a:spLocks/>
          </p:cNvSpPr>
          <p:nvPr/>
        </p:nvSpPr>
        <p:spPr>
          <a:xfrm>
            <a:off x="148607" y="1036304"/>
            <a:ext cx="6895660" cy="597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200" b="1" u="sng" dirty="0"/>
              <a:t>課題</a:t>
            </a:r>
            <a:r>
              <a:rPr lang="en-US" altLang="ja-JP" sz="3200" b="1" u="sng" dirty="0"/>
              <a:t>1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000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07754CD3-A9B8-CF2B-99E4-32B1C5763F08}"/>
              </a:ext>
            </a:extLst>
          </p:cNvPr>
          <p:cNvSpPr txBox="1">
            <a:spLocks/>
          </p:cNvSpPr>
          <p:nvPr/>
        </p:nvSpPr>
        <p:spPr>
          <a:xfrm>
            <a:off x="6895379" y="973325"/>
            <a:ext cx="4580586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/>
              <a:t>・</a:t>
            </a:r>
            <a:r>
              <a:rPr lang="ja-JP" altLang="en-US" sz="3200" b="1" u="sng" dirty="0"/>
              <a:t>課題</a:t>
            </a:r>
            <a:r>
              <a:rPr lang="en-US" altLang="ja-JP" sz="3200" b="1" u="sng" dirty="0"/>
              <a:t>2</a:t>
            </a:r>
          </a:p>
          <a:p>
            <a:pPr marL="0" indent="0">
              <a:buNone/>
            </a:pPr>
            <a:endParaRPr lang="en-US" altLang="ja-JP" sz="2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0B3F8E0-546C-D27B-66DC-A1EDAAAA76A5}"/>
              </a:ext>
            </a:extLst>
          </p:cNvPr>
          <p:cNvSpPr txBox="1"/>
          <p:nvPr/>
        </p:nvSpPr>
        <p:spPr>
          <a:xfrm>
            <a:off x="7044267" y="1721762"/>
            <a:ext cx="433965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以下の関数を作成し、実行結果を得よ。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名前：</a:t>
            </a:r>
            <a:r>
              <a:rPr kumimoji="1" lang="en-US" altLang="ja-JP" dirty="0" err="1"/>
              <a:t>Gcd</a:t>
            </a:r>
            <a:endParaRPr kumimoji="1" lang="en-US" altLang="ja-JP" dirty="0"/>
          </a:p>
          <a:p>
            <a:r>
              <a:rPr lang="ja-JP" altLang="en-US" dirty="0"/>
              <a:t>引数の型：</a:t>
            </a:r>
            <a:r>
              <a:rPr lang="en-US" altLang="ja-JP" dirty="0" err="1"/>
              <a:t>int,int</a:t>
            </a:r>
            <a:endParaRPr kumimoji="1" lang="en-US" altLang="ja-JP" dirty="0"/>
          </a:p>
          <a:p>
            <a:r>
              <a:rPr kumimoji="1" lang="ja-JP" altLang="en-US" dirty="0"/>
              <a:t>戻り値の型：</a:t>
            </a:r>
            <a:r>
              <a:rPr lang="en-US" altLang="ja-JP" dirty="0"/>
              <a:t>int</a:t>
            </a:r>
            <a:endParaRPr kumimoji="1" lang="en-US" altLang="ja-JP" dirty="0"/>
          </a:p>
          <a:p>
            <a:r>
              <a:rPr kumimoji="1" lang="ja-JP" altLang="en-US" dirty="0"/>
              <a:t>機能：入力された</a:t>
            </a:r>
            <a:r>
              <a:rPr lang="ja-JP" altLang="en-US" dirty="0"/>
              <a:t>二つの引数の</a:t>
            </a:r>
            <a:endParaRPr lang="en-US" altLang="ja-JP" dirty="0"/>
          </a:p>
          <a:p>
            <a:r>
              <a:rPr kumimoji="1" lang="ja-JP" altLang="en-US" dirty="0"/>
              <a:t>　　　最大公約数を返す。</a:t>
            </a:r>
            <a:endParaRPr kumimoji="1"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41068D-4715-BE99-4B57-4435D8CEF978}"/>
              </a:ext>
            </a:extLst>
          </p:cNvPr>
          <p:cNvSpPr txBox="1"/>
          <p:nvPr/>
        </p:nvSpPr>
        <p:spPr>
          <a:xfrm>
            <a:off x="387145" y="1786125"/>
            <a:ext cx="433965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以下の関数を作成し、実行結果を得よ。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名前：</a:t>
            </a:r>
            <a:r>
              <a:rPr kumimoji="1" lang="en-US" altLang="ja-JP" dirty="0" err="1"/>
              <a:t>CheckPrime</a:t>
            </a:r>
            <a:endParaRPr kumimoji="1" lang="en-US" altLang="ja-JP" dirty="0"/>
          </a:p>
          <a:p>
            <a:r>
              <a:rPr lang="ja-JP" altLang="en-US" dirty="0"/>
              <a:t>引数：</a:t>
            </a:r>
            <a:r>
              <a:rPr lang="en-US" altLang="ja-JP" dirty="0"/>
              <a:t>int</a:t>
            </a:r>
            <a:endParaRPr kumimoji="1" lang="en-US" altLang="ja-JP" dirty="0"/>
          </a:p>
          <a:p>
            <a:r>
              <a:rPr kumimoji="1" lang="ja-JP" altLang="en-US" dirty="0"/>
              <a:t>戻り値：</a:t>
            </a:r>
            <a:r>
              <a:rPr kumimoji="1" lang="en-US" altLang="ja-JP" dirty="0"/>
              <a:t>Bool</a:t>
            </a:r>
          </a:p>
          <a:p>
            <a:r>
              <a:rPr kumimoji="1" lang="ja-JP" altLang="en-US" dirty="0"/>
              <a:t>機能：入力された引数が、</a:t>
            </a:r>
            <a:endParaRPr kumimoji="1" lang="en-US" altLang="ja-JP" dirty="0"/>
          </a:p>
          <a:p>
            <a:r>
              <a:rPr lang="ja-JP" altLang="en-US" dirty="0"/>
              <a:t>　　　</a:t>
            </a:r>
            <a:r>
              <a:rPr kumimoji="1" lang="ja-JP" altLang="en-US" dirty="0"/>
              <a:t>素数であるかどうかを判定する。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9E604C99-2D7A-E5ED-526E-A9A2F4251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963" y="4814529"/>
            <a:ext cx="1618013" cy="1339046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CE85E461-73D0-C820-40E8-8712D4B47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73" y="3862351"/>
            <a:ext cx="4067622" cy="907277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5ABE454A-7F20-1ED9-5493-C8794760A2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321" y="3753087"/>
            <a:ext cx="3898701" cy="970697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B27D6CF7-3558-ECA7-27B6-EE00B2F8F9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65" y="4769628"/>
            <a:ext cx="1451727" cy="132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72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演習</a:t>
            </a:r>
            <a:r>
              <a:rPr lang="en-US" altLang="ja-JP" dirty="0">
                <a:solidFill>
                  <a:schemeClr val="tx1"/>
                </a:solidFill>
              </a:rPr>
              <a:t>2</a:t>
            </a:r>
          </a:p>
          <a:p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EEB4920B-F8BF-4243-78C0-787C8D04078E}"/>
              </a:ext>
            </a:extLst>
          </p:cNvPr>
          <p:cNvSpPr txBox="1">
            <a:spLocks/>
          </p:cNvSpPr>
          <p:nvPr/>
        </p:nvSpPr>
        <p:spPr>
          <a:xfrm>
            <a:off x="148607" y="1036304"/>
            <a:ext cx="6895660" cy="597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3200" b="1" u="sng" dirty="0"/>
              <a:t>課題</a:t>
            </a:r>
            <a:endParaRPr lang="en-US" altLang="ja-JP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41068D-4715-BE99-4B57-4435D8CEF978}"/>
              </a:ext>
            </a:extLst>
          </p:cNvPr>
          <p:cNvSpPr txBox="1"/>
          <p:nvPr/>
        </p:nvSpPr>
        <p:spPr>
          <a:xfrm>
            <a:off x="418869" y="1606601"/>
            <a:ext cx="56771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2400" dirty="0"/>
          </a:p>
          <a:p>
            <a:r>
              <a:rPr kumimoji="1" lang="ja-JP" altLang="en-US" sz="2400" dirty="0"/>
              <a:t>・初期位置</a:t>
            </a:r>
            <a:endParaRPr kumimoji="1" lang="en-US" altLang="ja-JP" sz="2400" dirty="0"/>
          </a:p>
          <a:p>
            <a:r>
              <a:rPr kumimoji="1" lang="ja-JP" altLang="en-US" sz="2400" dirty="0"/>
              <a:t>・初速度</a:t>
            </a:r>
            <a:endParaRPr lang="en-US" altLang="ja-JP" sz="2400" dirty="0"/>
          </a:p>
          <a:p>
            <a:r>
              <a:rPr lang="ja-JP" altLang="en-US" sz="2400"/>
              <a:t>・</a:t>
            </a:r>
            <a:r>
              <a:rPr lang="ja-JP" altLang="en-US" sz="2400" dirty="0"/>
              <a:t>加速度</a:t>
            </a:r>
            <a:endParaRPr lang="en-US" altLang="ja-JP" sz="2400" dirty="0"/>
          </a:p>
          <a:p>
            <a:r>
              <a:rPr kumimoji="1" lang="ja-JP" altLang="en-US" sz="2400" dirty="0"/>
              <a:t>・秒数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を入力させ、物体の運動結果を表示するメソッドを作成せよ。</a:t>
            </a:r>
            <a:endParaRPr lang="en-US" altLang="ja-JP" sz="2400" dirty="0"/>
          </a:p>
          <a:p>
            <a:r>
              <a:rPr lang="ja-JP" altLang="en-US" sz="2400" dirty="0"/>
              <a:t>運動は一次元空間で行う。</a:t>
            </a:r>
            <a:endParaRPr lang="en-US" altLang="ja-JP" sz="2400" dirty="0"/>
          </a:p>
          <a:p>
            <a:r>
              <a:rPr lang="en-US" altLang="ja-JP" sz="2400" dirty="0"/>
              <a:t>Main</a:t>
            </a:r>
            <a:r>
              <a:rPr lang="ja-JP" altLang="en-US" sz="2400" dirty="0"/>
              <a:t>は右上のようにし、</a:t>
            </a:r>
            <a:endParaRPr lang="en-US" altLang="ja-JP" sz="2400" dirty="0"/>
          </a:p>
          <a:p>
            <a:r>
              <a:rPr kumimoji="1" lang="ja-JP" altLang="en-US" sz="2400" dirty="0"/>
              <a:t>実行結果は右下のようになる。</a:t>
            </a:r>
            <a:endParaRPr kumimoji="1" lang="en-US" altLang="ja-JP" sz="2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333C7AE-FD0A-4CF3-875A-9057263E8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721" y="665576"/>
            <a:ext cx="5844540" cy="428244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C45BEA4-0749-47EE-9A8F-669252668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728" y="4646918"/>
            <a:ext cx="1916272" cy="221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6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76" y="1104035"/>
            <a:ext cx="6407624" cy="4991965"/>
          </a:xfrm>
        </p:spPr>
        <p:txBody>
          <a:bodyPr>
            <a:normAutofit/>
          </a:bodyPr>
          <a:lstStyle/>
          <a:p>
            <a:r>
              <a:rPr kumimoji="1" lang="ja-JP" altLang="en-US" sz="3200" b="1" u="sng" dirty="0"/>
              <a:t>本日のまとめ</a:t>
            </a:r>
            <a:endParaRPr kumimoji="1" lang="en-US" altLang="ja-JP" sz="3200" b="1" u="sng" dirty="0"/>
          </a:p>
          <a:p>
            <a:pPr marL="0" indent="0">
              <a:buNone/>
            </a:pPr>
            <a:r>
              <a:rPr lang="ja-JP" altLang="en-US" dirty="0"/>
              <a:t>・メソッド（関数）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2800" dirty="0"/>
              <a:t>　</a:t>
            </a:r>
            <a:r>
              <a:rPr lang="en-US" altLang="ja-JP" sz="2800" dirty="0"/>
              <a:t>―</a:t>
            </a:r>
            <a:r>
              <a:rPr lang="ja-JP" altLang="en-US" sz="2800" dirty="0"/>
              <a:t>　複数の命令を一つにまとめる</a:t>
            </a:r>
          </a:p>
          <a:p>
            <a:pPr marL="0" indent="0">
              <a:buNone/>
            </a:pPr>
            <a:r>
              <a:rPr lang="ja-JP" altLang="en-US" dirty="0"/>
              <a:t>・引数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ー　関数に渡す値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・戻り値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ー　関数から戻ってくる値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アジェンダ（</a:t>
            </a:r>
            <a:r>
              <a:rPr lang="en-US" altLang="ja-JP" dirty="0">
                <a:solidFill>
                  <a:schemeClr val="tx1"/>
                </a:solidFill>
              </a:rPr>
              <a:t>agenda</a:t>
            </a:r>
            <a:r>
              <a:rPr lang="ja-JP" altLang="en-US" dirty="0">
                <a:solidFill>
                  <a:schemeClr val="tx1"/>
                </a:solidFill>
              </a:rPr>
              <a:t>：目次</a:t>
            </a:r>
            <a:r>
              <a:rPr lang="ja-JP" altLang="en-US" dirty="0"/>
              <a:t>）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5235F61D-3CF2-4C99-ACDE-D55779AA25AE}"/>
              </a:ext>
            </a:extLst>
          </p:cNvPr>
          <p:cNvSpPr txBox="1">
            <a:spLocks/>
          </p:cNvSpPr>
          <p:nvPr/>
        </p:nvSpPr>
        <p:spPr>
          <a:xfrm>
            <a:off x="7249616" y="956738"/>
            <a:ext cx="4580586" cy="5652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b="1" dirty="0"/>
              <a:t>・</a:t>
            </a:r>
            <a:r>
              <a:rPr lang="ja-JP" altLang="en-US" sz="3200" b="1" u="sng" dirty="0"/>
              <a:t>教科書の範囲</a:t>
            </a:r>
            <a:endParaRPr lang="en-US" altLang="ja-JP" sz="3200" b="1" u="sng" dirty="0"/>
          </a:p>
          <a:p>
            <a:pPr marL="0" indent="0">
              <a:buNone/>
            </a:pPr>
            <a:r>
              <a:rPr lang="ja-JP" altLang="en-US" sz="2800" dirty="0"/>
              <a:t>かんたん</a:t>
            </a:r>
            <a:r>
              <a:rPr lang="en-US" altLang="ja-JP" sz="2800" dirty="0"/>
              <a:t>C#</a:t>
            </a:r>
            <a:r>
              <a:rPr lang="ja-JP" altLang="en-US" sz="2800" dirty="0"/>
              <a:t>：</a:t>
            </a:r>
            <a:r>
              <a:rPr lang="en-US" altLang="ja-JP" sz="2800" dirty="0"/>
              <a:t>251~286p</a:t>
            </a:r>
          </a:p>
          <a:p>
            <a:pPr marL="0" indent="0">
              <a:buFont typeface="Wingdings 3" charset="2"/>
              <a:buNone/>
            </a:pPr>
            <a:r>
              <a:rPr lang="en-US" altLang="ja-JP" sz="2800" dirty="0"/>
              <a:t>(※</a:t>
            </a:r>
            <a:r>
              <a:rPr lang="ja-JP" altLang="en-US" sz="2800" dirty="0"/>
              <a:t>今回触れない内容もありますので、参考程度に</a:t>
            </a:r>
            <a:r>
              <a:rPr lang="en-US" altLang="ja-JP" sz="2800" dirty="0"/>
              <a:t>)</a:t>
            </a:r>
            <a:br>
              <a:rPr lang="en-US" altLang="ja-JP" sz="2800" dirty="0"/>
            </a:br>
            <a:r>
              <a:rPr lang="ja-JP" altLang="en-US" sz="2800" dirty="0"/>
              <a:t>・</a:t>
            </a:r>
            <a:r>
              <a:rPr lang="en-US" altLang="ja-JP" sz="2800" b="1" u="sng" dirty="0"/>
              <a:t>C#</a:t>
            </a:r>
            <a:r>
              <a:rPr lang="ja-JP" altLang="en-US" sz="2800" b="1" u="sng" dirty="0"/>
              <a:t>サンプルコード</a:t>
            </a:r>
            <a:r>
              <a:rPr lang="en-US" altLang="ja-JP" sz="2400" dirty="0"/>
              <a:t>sample1.cs</a:t>
            </a:r>
            <a:endParaRPr kumimoji="1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ja-JP" altLang="en-US" sz="2800" b="1" u="sng" dirty="0"/>
              <a:t>課題</a:t>
            </a:r>
            <a:endParaRPr lang="en-US" altLang="ja-JP" sz="2800" b="1" u="sng" dirty="0"/>
          </a:p>
          <a:p>
            <a:pPr marL="0" indent="0">
              <a:buNone/>
            </a:pPr>
            <a:r>
              <a:rPr lang="ja-JP" altLang="en-US" sz="3200" dirty="0"/>
              <a:t>演習</a:t>
            </a:r>
            <a:r>
              <a:rPr lang="en-US" altLang="ja-JP" sz="3200" dirty="0"/>
              <a:t>1</a:t>
            </a:r>
          </a:p>
          <a:p>
            <a:pPr marL="0" indent="0">
              <a:buNone/>
            </a:pPr>
            <a:r>
              <a:rPr lang="ja-JP" altLang="en-US" sz="3200" dirty="0"/>
              <a:t>演習</a:t>
            </a:r>
            <a:r>
              <a:rPr lang="en-US" altLang="ja-JP" sz="3200" dirty="0"/>
              <a:t>2</a:t>
            </a:r>
            <a:endParaRPr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86347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2025</TotalTime>
  <Words>812</Words>
  <Application>Microsoft Office PowerPoint</Application>
  <PresentationFormat>ワイド画面</PresentationFormat>
  <Paragraphs>137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游ゴシック</vt:lpstr>
      <vt:lpstr>游ゴシック Light</vt:lpstr>
      <vt:lpstr>Arial</vt:lpstr>
      <vt:lpstr>Cambria Math</vt:lpstr>
      <vt:lpstr>Wingdings 3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Mahiro</dc:creator>
  <cp:lastModifiedBy>内藤 真広</cp:lastModifiedBy>
  <cp:revision>483</cp:revision>
  <dcterms:created xsi:type="dcterms:W3CDTF">2021-04-24T06:43:32Z</dcterms:created>
  <dcterms:modified xsi:type="dcterms:W3CDTF">2025-06-23T02:17:56Z</dcterms:modified>
</cp:coreProperties>
</file>